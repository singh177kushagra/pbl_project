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68" r:id="rId5"/>
    <p:sldId id="259" r:id="rId6"/>
    <p:sldId id="269" r:id="rId7"/>
    <p:sldId id="260" r:id="rId8"/>
    <p:sldId id="262" r:id="rId9"/>
    <p:sldId id="273" r:id="rId10"/>
    <p:sldId id="261" r:id="rId11"/>
    <p:sldId id="272" r:id="rId12"/>
    <p:sldId id="270" r:id="rId13"/>
    <p:sldId id="271" r:id="rId14"/>
    <p:sldId id="266" r:id="rId15"/>
    <p:sldId id="274" r:id="rId16"/>
    <p:sldId id="267" r:id="rId17"/>
    <p:sldId id="275" r:id="rId18"/>
    <p:sldId id="263" r:id="rId19"/>
    <p:sldId id="26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34E9DA-A566-4013-88EC-0AA07172C32F}" v="10" dt="2026-04-10T13:23:34.6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06" autoAdjust="0"/>
    <p:restoredTop sz="94660"/>
  </p:normalViewPr>
  <p:slideViewPr>
    <p:cSldViewPr snapToGrid="0">
      <p:cViewPr varScale="1">
        <p:scale>
          <a:sx n="78" d="100"/>
          <a:sy n="78" d="100"/>
        </p:scale>
        <p:origin x="126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shagra Singh" userId="d544485b39300f66" providerId="LiveId" clId="{E14CB0D5-A710-4E49-AABE-D5223A212189}"/>
    <pc:docChg chg="undo custSel addSld modSld">
      <pc:chgData name="Kushagra Singh" userId="d544485b39300f66" providerId="LiveId" clId="{E14CB0D5-A710-4E49-AABE-D5223A212189}" dt="2026-04-10T13:23:41.169" v="3721" actId="2711"/>
      <pc:docMkLst>
        <pc:docMk/>
      </pc:docMkLst>
      <pc:sldChg chg="modSp mod">
        <pc:chgData name="Kushagra Singh" userId="d544485b39300f66" providerId="LiveId" clId="{E14CB0D5-A710-4E49-AABE-D5223A212189}" dt="2026-04-10T12:23:34.797" v="2641" actId="2711"/>
        <pc:sldMkLst>
          <pc:docMk/>
          <pc:sldMk cId="2374707807" sldId="260"/>
        </pc:sldMkLst>
        <pc:spChg chg="mod">
          <ac:chgData name="Kushagra Singh" userId="d544485b39300f66" providerId="LiveId" clId="{E14CB0D5-A710-4E49-AABE-D5223A212189}" dt="2026-04-10T12:23:34.797" v="2641" actId="2711"/>
          <ac:spMkLst>
            <pc:docMk/>
            <pc:sldMk cId="2374707807" sldId="260"/>
            <ac:spMk id="3" creationId="{CB024CC5-00AF-876C-F7CA-146754384CB0}"/>
          </ac:spMkLst>
        </pc:spChg>
      </pc:sldChg>
      <pc:sldChg chg="addSp delSp modSp mod">
        <pc:chgData name="Kushagra Singh" userId="d544485b39300f66" providerId="LiveId" clId="{E14CB0D5-A710-4E49-AABE-D5223A212189}" dt="2026-04-10T12:27:39.099" v="3078" actId="20577"/>
        <pc:sldMkLst>
          <pc:docMk/>
          <pc:sldMk cId="3547097812" sldId="262"/>
        </pc:sldMkLst>
        <pc:spChg chg="mod">
          <ac:chgData name="Kushagra Singh" userId="d544485b39300f66" providerId="LiveId" clId="{E14CB0D5-A710-4E49-AABE-D5223A212189}" dt="2026-04-10T12:27:39.099" v="3078" actId="20577"/>
          <ac:spMkLst>
            <pc:docMk/>
            <pc:sldMk cId="3547097812" sldId="262"/>
            <ac:spMk id="3" creationId="{CE3E25AA-71BA-D0F6-3993-32491BD06DD7}"/>
          </ac:spMkLst>
        </pc:spChg>
        <pc:spChg chg="add del mod">
          <ac:chgData name="Kushagra Singh" userId="d544485b39300f66" providerId="LiveId" clId="{E14CB0D5-A710-4E49-AABE-D5223A212189}" dt="2026-04-10T12:25:28.340" v="2870" actId="21"/>
          <ac:spMkLst>
            <pc:docMk/>
            <pc:sldMk cId="3547097812" sldId="262"/>
            <ac:spMk id="4" creationId="{6F943BD0-B1C1-0A6D-539A-96FA37019256}"/>
          </ac:spMkLst>
        </pc:spChg>
      </pc:sldChg>
      <pc:sldChg chg="modSp mod">
        <pc:chgData name="Kushagra Singh" userId="d544485b39300f66" providerId="LiveId" clId="{E14CB0D5-A710-4E49-AABE-D5223A212189}" dt="2026-04-10T13:23:41.169" v="3721" actId="2711"/>
        <pc:sldMkLst>
          <pc:docMk/>
          <pc:sldMk cId="2724917500" sldId="263"/>
        </pc:sldMkLst>
        <pc:spChg chg="mod">
          <ac:chgData name="Kushagra Singh" userId="d544485b39300f66" providerId="LiveId" clId="{E14CB0D5-A710-4E49-AABE-D5223A212189}" dt="2026-04-10T13:23:41.169" v="3721" actId="2711"/>
          <ac:spMkLst>
            <pc:docMk/>
            <pc:sldMk cId="2724917500" sldId="263"/>
            <ac:spMk id="6" creationId="{DB26C364-5761-D3A8-8C71-F41766E2B8D4}"/>
          </ac:spMkLst>
        </pc:spChg>
      </pc:sldChg>
      <pc:sldChg chg="addSp delSp modSp mod">
        <pc:chgData name="Kushagra Singh" userId="d544485b39300f66" providerId="LiveId" clId="{E14CB0D5-A710-4E49-AABE-D5223A212189}" dt="2026-04-10T13:14:31.189" v="3299" actId="1076"/>
        <pc:sldMkLst>
          <pc:docMk/>
          <pc:sldMk cId="3645671189" sldId="266"/>
        </pc:sldMkLst>
        <pc:spChg chg="add mod">
          <ac:chgData name="Kushagra Singh" userId="d544485b39300f66" providerId="LiveId" clId="{E14CB0D5-A710-4E49-AABE-D5223A212189}" dt="2026-04-10T12:58:59.709" v="3286" actId="21"/>
          <ac:spMkLst>
            <pc:docMk/>
            <pc:sldMk cId="3645671189" sldId="266"/>
            <ac:spMk id="6" creationId="{EB2789D3-341D-7AD5-B583-8F9DB373EE11}"/>
          </ac:spMkLst>
        </pc:spChg>
        <pc:picChg chg="del">
          <ac:chgData name="Kushagra Singh" userId="d544485b39300f66" providerId="LiveId" clId="{E14CB0D5-A710-4E49-AABE-D5223A212189}" dt="2026-04-10T12:59:14.943" v="3288" actId="21"/>
          <ac:picMkLst>
            <pc:docMk/>
            <pc:sldMk cId="3645671189" sldId="266"/>
            <ac:picMk id="4" creationId="{58552263-B93E-6686-AF1F-94FF4ADD2CCE}"/>
          </ac:picMkLst>
        </pc:picChg>
        <pc:picChg chg="del">
          <ac:chgData name="Kushagra Singh" userId="d544485b39300f66" providerId="LiveId" clId="{E14CB0D5-A710-4E49-AABE-D5223A212189}" dt="2026-04-10T12:58:59.709" v="3286" actId="21"/>
          <ac:picMkLst>
            <pc:docMk/>
            <pc:sldMk cId="3645671189" sldId="266"/>
            <ac:picMk id="5" creationId="{40798494-FD85-F359-75EB-D7F79A9FB845}"/>
          </ac:picMkLst>
        </pc:picChg>
        <pc:picChg chg="del">
          <ac:chgData name="Kushagra Singh" userId="d544485b39300f66" providerId="LiveId" clId="{E14CB0D5-A710-4E49-AABE-D5223A212189}" dt="2026-04-10T12:59:04.302" v="3287" actId="21"/>
          <ac:picMkLst>
            <pc:docMk/>
            <pc:sldMk cId="3645671189" sldId="266"/>
            <ac:picMk id="7" creationId="{B9DB7BB6-87DA-231C-9DE3-DF8F54E76E00}"/>
          </ac:picMkLst>
        </pc:picChg>
        <pc:picChg chg="add mod">
          <ac:chgData name="Kushagra Singh" userId="d544485b39300f66" providerId="LiveId" clId="{E14CB0D5-A710-4E49-AABE-D5223A212189}" dt="2026-04-10T13:01:37.601" v="3291" actId="1076"/>
          <ac:picMkLst>
            <pc:docMk/>
            <pc:sldMk cId="3645671189" sldId="266"/>
            <ac:picMk id="9" creationId="{1C708ED2-AF14-A4C5-6FC7-F002F9A8DC72}"/>
          </ac:picMkLst>
        </pc:picChg>
        <pc:picChg chg="add mod">
          <ac:chgData name="Kushagra Singh" userId="d544485b39300f66" providerId="LiveId" clId="{E14CB0D5-A710-4E49-AABE-D5223A212189}" dt="2026-04-10T13:02:19.434" v="3296" actId="1076"/>
          <ac:picMkLst>
            <pc:docMk/>
            <pc:sldMk cId="3645671189" sldId="266"/>
            <ac:picMk id="11" creationId="{32A8E0A0-845A-1795-785D-284320F3639C}"/>
          </ac:picMkLst>
        </pc:picChg>
        <pc:picChg chg="add mod">
          <ac:chgData name="Kushagra Singh" userId="d544485b39300f66" providerId="LiveId" clId="{E14CB0D5-A710-4E49-AABE-D5223A212189}" dt="2026-04-10T13:14:31.189" v="3299" actId="1076"/>
          <ac:picMkLst>
            <pc:docMk/>
            <pc:sldMk cId="3645671189" sldId="266"/>
            <ac:picMk id="13" creationId="{A4B81988-1DAB-A33D-3D75-A88BC31AB7C8}"/>
          </ac:picMkLst>
        </pc:picChg>
      </pc:sldChg>
      <pc:sldChg chg="modSp mod">
        <pc:chgData name="Kushagra Singh" userId="d544485b39300f66" providerId="LiveId" clId="{E14CB0D5-A710-4E49-AABE-D5223A212189}" dt="2026-04-10T13:21:38.039" v="3640" actId="20577"/>
        <pc:sldMkLst>
          <pc:docMk/>
          <pc:sldMk cId="2154956931" sldId="267"/>
        </pc:sldMkLst>
        <pc:spChg chg="mod">
          <ac:chgData name="Kushagra Singh" userId="d544485b39300f66" providerId="LiveId" clId="{E14CB0D5-A710-4E49-AABE-D5223A212189}" dt="2026-04-10T13:21:38.039" v="3640" actId="20577"/>
          <ac:spMkLst>
            <pc:docMk/>
            <pc:sldMk cId="2154956931" sldId="267"/>
            <ac:spMk id="3" creationId="{996084D1-BF8A-599C-4DEE-5FD15C78EC1C}"/>
          </ac:spMkLst>
        </pc:spChg>
      </pc:sldChg>
      <pc:sldChg chg="addSp delSp modSp mod">
        <pc:chgData name="Kushagra Singh" userId="d544485b39300f66" providerId="LiveId" clId="{E14CB0D5-A710-4E49-AABE-D5223A212189}" dt="2026-04-10T12:31:54.062" v="3285" actId="20577"/>
        <pc:sldMkLst>
          <pc:docMk/>
          <pc:sldMk cId="639688946" sldId="273"/>
        </pc:sldMkLst>
        <pc:spChg chg="add del mod">
          <ac:chgData name="Kushagra Singh" userId="d544485b39300f66" providerId="LiveId" clId="{E14CB0D5-A710-4E49-AABE-D5223A212189}" dt="2026-04-10T12:28:49.617" v="3080" actId="21"/>
          <ac:spMkLst>
            <pc:docMk/>
            <pc:sldMk cId="639688946" sldId="273"/>
            <ac:spMk id="4" creationId="{6F943BD0-B1C1-0A6D-539A-96FA37019256}"/>
          </ac:spMkLst>
        </pc:spChg>
        <pc:graphicFrameChg chg="mod modGraphic">
          <ac:chgData name="Kushagra Singh" userId="d544485b39300f66" providerId="LiveId" clId="{E14CB0D5-A710-4E49-AABE-D5223A212189}" dt="2026-04-10T12:31:54.062" v="3285" actId="20577"/>
          <ac:graphicFrameMkLst>
            <pc:docMk/>
            <pc:sldMk cId="639688946" sldId="273"/>
            <ac:graphicFrameMk id="5" creationId="{3FD7D740-34F7-EB6E-40D2-B5A023493314}"/>
          </ac:graphicFrameMkLst>
        </pc:graphicFrameChg>
      </pc:sldChg>
      <pc:sldChg chg="addSp delSp modSp mod">
        <pc:chgData name="Kushagra Singh" userId="d544485b39300f66" providerId="LiveId" clId="{E14CB0D5-A710-4E49-AABE-D5223A212189}" dt="2026-04-10T13:18:35.276" v="3320" actId="21"/>
        <pc:sldMkLst>
          <pc:docMk/>
          <pc:sldMk cId="3310950981" sldId="274"/>
        </pc:sldMkLst>
        <pc:spChg chg="add del mod">
          <ac:chgData name="Kushagra Singh" userId="d544485b39300f66" providerId="LiveId" clId="{E14CB0D5-A710-4E49-AABE-D5223A212189}" dt="2026-04-10T13:18:35.276" v="3320" actId="21"/>
          <ac:spMkLst>
            <pc:docMk/>
            <pc:sldMk cId="3310950981" sldId="274"/>
            <ac:spMk id="7" creationId="{7654541A-1BB9-3792-B0A8-5A16704B58AE}"/>
          </ac:spMkLst>
        </pc:spChg>
        <pc:picChg chg="del">
          <ac:chgData name="Kushagra Singh" userId="d544485b39300f66" providerId="LiveId" clId="{E14CB0D5-A710-4E49-AABE-D5223A212189}" dt="2026-04-10T13:15:48.072" v="3306" actId="21"/>
          <ac:picMkLst>
            <pc:docMk/>
            <pc:sldMk cId="3310950981" sldId="274"/>
            <ac:picMk id="4" creationId="{3C027FCC-1C07-0DE3-9223-2F9EFC4207BC}"/>
          </ac:picMkLst>
        </pc:picChg>
        <pc:picChg chg="del">
          <ac:chgData name="Kushagra Singh" userId="d544485b39300f66" providerId="LiveId" clId="{E14CB0D5-A710-4E49-AABE-D5223A212189}" dt="2026-04-10T13:15:02.981" v="3300" actId="21"/>
          <ac:picMkLst>
            <pc:docMk/>
            <pc:sldMk cId="3310950981" sldId="274"/>
            <ac:picMk id="5" creationId="{FBE11491-3F1B-F7DE-9A79-B795F7355472}"/>
          </ac:picMkLst>
        </pc:picChg>
        <pc:picChg chg="del">
          <ac:chgData name="Kushagra Singh" userId="d544485b39300f66" providerId="LiveId" clId="{E14CB0D5-A710-4E49-AABE-D5223A212189}" dt="2026-04-10T13:16:29.141" v="3311" actId="21"/>
          <ac:picMkLst>
            <pc:docMk/>
            <pc:sldMk cId="3310950981" sldId="274"/>
            <ac:picMk id="6" creationId="{5F6DFEAA-909D-7123-30EC-2CCEA9C78878}"/>
          </ac:picMkLst>
        </pc:picChg>
        <pc:picChg chg="add mod">
          <ac:chgData name="Kushagra Singh" userId="d544485b39300f66" providerId="LiveId" clId="{E14CB0D5-A710-4E49-AABE-D5223A212189}" dt="2026-04-10T13:17:30.282" v="3315" actId="1076"/>
          <ac:picMkLst>
            <pc:docMk/>
            <pc:sldMk cId="3310950981" sldId="274"/>
            <ac:picMk id="9" creationId="{04C70438-94AD-772F-3E9A-F664E91B4D31}"/>
          </ac:picMkLst>
        </pc:picChg>
        <pc:picChg chg="add mod">
          <ac:chgData name="Kushagra Singh" userId="d544485b39300f66" providerId="LiveId" clId="{E14CB0D5-A710-4E49-AABE-D5223A212189}" dt="2026-04-10T13:17:32.646" v="3316" actId="1076"/>
          <ac:picMkLst>
            <pc:docMk/>
            <pc:sldMk cId="3310950981" sldId="274"/>
            <ac:picMk id="11" creationId="{31D454E5-A221-95C5-73F2-4DA8ED3F772E}"/>
          </ac:picMkLst>
        </pc:picChg>
        <pc:picChg chg="add mod">
          <ac:chgData name="Kushagra Singh" userId="d544485b39300f66" providerId="LiveId" clId="{E14CB0D5-A710-4E49-AABE-D5223A212189}" dt="2026-04-10T13:17:14.479" v="3314" actId="1076"/>
          <ac:picMkLst>
            <pc:docMk/>
            <pc:sldMk cId="3310950981" sldId="274"/>
            <ac:picMk id="13" creationId="{A291BB77-E6CC-3D69-834D-A789781D8457}"/>
          </ac:picMkLst>
        </pc:picChg>
        <pc:picChg chg="add mod">
          <ac:chgData name="Kushagra Singh" userId="d544485b39300f66" providerId="LiveId" clId="{E14CB0D5-A710-4E49-AABE-D5223A212189}" dt="2026-04-10T13:18:30.274" v="3319" actId="1076"/>
          <ac:picMkLst>
            <pc:docMk/>
            <pc:sldMk cId="3310950981" sldId="274"/>
            <ac:picMk id="15" creationId="{F723BF3C-5BDB-E570-33E8-AF1DFF35F49C}"/>
          </ac:picMkLst>
        </pc:picChg>
      </pc:sldChg>
      <pc:sldChg chg="modSp new mod">
        <pc:chgData name="Kushagra Singh" userId="d544485b39300f66" providerId="LiveId" clId="{E14CB0D5-A710-4E49-AABE-D5223A212189}" dt="2026-04-10T13:22:52.310" v="3718" actId="20577"/>
        <pc:sldMkLst>
          <pc:docMk/>
          <pc:sldMk cId="1591393574" sldId="275"/>
        </pc:sldMkLst>
        <pc:spChg chg="mod">
          <ac:chgData name="Kushagra Singh" userId="d544485b39300f66" providerId="LiveId" clId="{E14CB0D5-A710-4E49-AABE-D5223A212189}" dt="2026-04-10T13:21:52.336" v="3653" actId="20577"/>
          <ac:spMkLst>
            <pc:docMk/>
            <pc:sldMk cId="1591393574" sldId="275"/>
            <ac:spMk id="2" creationId="{6CDCBF43-AF88-B4A6-66AE-7B5CC984A78A}"/>
          </ac:spMkLst>
        </pc:spChg>
        <pc:spChg chg="mod">
          <ac:chgData name="Kushagra Singh" userId="d544485b39300f66" providerId="LiveId" clId="{E14CB0D5-A710-4E49-AABE-D5223A212189}" dt="2026-04-10T13:22:52.310" v="3718" actId="20577"/>
          <ac:spMkLst>
            <pc:docMk/>
            <pc:sldMk cId="1591393574" sldId="275"/>
            <ac:spMk id="3" creationId="{AED999A9-728C-07D3-B8F0-DF74624B239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BAF97-7714-4D06-AAC8-68C0DC8A4889}"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IN"/>
        </a:p>
      </dgm:t>
    </dgm:pt>
    <dgm:pt modelId="{3DDA1875-09B8-4CD5-BBF1-DB78BC23D0FA}">
      <dgm:prSet phldrT="[Text]" phldr="0" custT="1"/>
      <dgm:spPr/>
      <dgm:t>
        <a:bodyPr/>
        <a:lstStyle/>
        <a:p>
          <a:r>
            <a:rPr lang="en-IN" sz="2000" dirty="0">
              <a:latin typeface="Times New Roman" panose="02020603050405020304" pitchFamily="18" charset="0"/>
              <a:cs typeface="Times New Roman" panose="02020603050405020304" pitchFamily="18" charset="0"/>
            </a:rPr>
            <a:t>Develop a web-based system</a:t>
          </a:r>
        </a:p>
      </dgm:t>
    </dgm:pt>
    <dgm:pt modelId="{BB7534BF-507A-4DF8-9408-E75FE0342BF2}" type="parTrans" cxnId="{8E3981F2-CC8C-48A5-BEF6-01E832273AA2}">
      <dgm:prSet/>
      <dgm:spPr/>
      <dgm:t>
        <a:bodyPr/>
        <a:lstStyle/>
        <a:p>
          <a:endParaRPr lang="en-IN"/>
        </a:p>
      </dgm:t>
    </dgm:pt>
    <dgm:pt modelId="{7C7B3D75-B794-44C1-8802-F914932D562B}" type="sibTrans" cxnId="{8E3981F2-CC8C-48A5-BEF6-01E832273AA2}">
      <dgm:prSet/>
      <dgm:spPr/>
      <dgm:t>
        <a:bodyPr/>
        <a:lstStyle/>
        <a:p>
          <a:endParaRPr lang="en-IN"/>
        </a:p>
      </dgm:t>
    </dgm:pt>
    <dgm:pt modelId="{92D42C2A-64C2-4835-90BA-3ADEADED413F}">
      <dgm:prSet phldrT="[Text]" phldr="0" custT="1"/>
      <dgm:spPr/>
      <dgm:t>
        <a:bodyPr/>
        <a:lstStyle/>
        <a:p>
          <a:r>
            <a:rPr lang="en-IN" sz="2000" dirty="0">
              <a:latin typeface="Times New Roman" panose="02020603050405020304" pitchFamily="18" charset="0"/>
              <a:cs typeface="Times New Roman" panose="02020603050405020304" pitchFamily="18" charset="0"/>
            </a:rPr>
            <a:t>Use pre-trained ML models</a:t>
          </a:r>
        </a:p>
      </dgm:t>
    </dgm:pt>
    <dgm:pt modelId="{3F193FB6-ABB6-4021-9862-52FF1B6BD79B}" type="parTrans" cxnId="{AA49154D-C5EE-4078-9C11-48611E6B4622}">
      <dgm:prSet/>
      <dgm:spPr/>
      <dgm:t>
        <a:bodyPr/>
        <a:lstStyle/>
        <a:p>
          <a:endParaRPr lang="en-IN"/>
        </a:p>
      </dgm:t>
    </dgm:pt>
    <dgm:pt modelId="{FB4536D7-52A9-49F6-A2FE-AE179F4F8ED5}" type="sibTrans" cxnId="{AA49154D-C5EE-4078-9C11-48611E6B4622}">
      <dgm:prSet/>
      <dgm:spPr/>
      <dgm:t>
        <a:bodyPr/>
        <a:lstStyle/>
        <a:p>
          <a:endParaRPr lang="en-IN"/>
        </a:p>
      </dgm:t>
    </dgm:pt>
    <dgm:pt modelId="{6E068E39-88AB-4EDB-B38B-AF0C662F9474}">
      <dgm:prSet phldrT="[Text]" phldr="0" custT="1"/>
      <dgm:spPr/>
      <dgm:t>
        <a:bodyPr/>
        <a:lstStyle/>
        <a:p>
          <a:r>
            <a:rPr lang="en-IN" sz="2000" dirty="0">
              <a:latin typeface="Times New Roman" panose="02020603050405020304" pitchFamily="18" charset="0"/>
              <a:cs typeface="Times New Roman" panose="02020603050405020304" pitchFamily="18" charset="0"/>
            </a:rPr>
            <a:t>User uploads dataset and selects model</a:t>
          </a:r>
        </a:p>
      </dgm:t>
    </dgm:pt>
    <dgm:pt modelId="{A366B101-6575-4ABE-8BEC-95EFFC0A6874}" type="parTrans" cxnId="{04928E8E-D653-4AA3-A6E8-79C32BCECA69}">
      <dgm:prSet/>
      <dgm:spPr/>
      <dgm:t>
        <a:bodyPr/>
        <a:lstStyle/>
        <a:p>
          <a:endParaRPr lang="en-IN"/>
        </a:p>
      </dgm:t>
    </dgm:pt>
    <dgm:pt modelId="{B990D7AF-AB50-4D11-96B7-EC47595BBE16}" type="sibTrans" cxnId="{04928E8E-D653-4AA3-A6E8-79C32BCECA69}">
      <dgm:prSet/>
      <dgm:spPr/>
      <dgm:t>
        <a:bodyPr/>
        <a:lstStyle/>
        <a:p>
          <a:endParaRPr lang="en-IN"/>
        </a:p>
      </dgm:t>
    </dgm:pt>
    <dgm:pt modelId="{0C1DAB72-F1FB-4FC0-87DA-79DE953BFFF1}">
      <dgm:prSet phldrT="[Text]" phldr="0" custT="1"/>
      <dgm:spPr/>
      <dgm:t>
        <a:bodyPr/>
        <a:lstStyle/>
        <a:p>
          <a:r>
            <a:rPr lang="en-IN" sz="2000" dirty="0">
              <a:latin typeface="Times New Roman" panose="02020603050405020304" pitchFamily="18" charset="0"/>
              <a:cs typeface="Times New Roman" panose="02020603050405020304" pitchFamily="18" charset="0"/>
            </a:rPr>
            <a:t>System performs prediction </a:t>
          </a:r>
        </a:p>
      </dgm:t>
    </dgm:pt>
    <dgm:pt modelId="{BF00D1D1-D426-4EC2-80B2-68BD0D37EBF6}" type="parTrans" cxnId="{AB8C3F98-9B0E-4C5C-9C58-DAFB678B9EBF}">
      <dgm:prSet/>
      <dgm:spPr/>
      <dgm:t>
        <a:bodyPr/>
        <a:lstStyle/>
        <a:p>
          <a:endParaRPr lang="en-IN"/>
        </a:p>
      </dgm:t>
    </dgm:pt>
    <dgm:pt modelId="{42AFFF6B-6182-454A-AE3D-0B874B7FD3DF}" type="sibTrans" cxnId="{AB8C3F98-9B0E-4C5C-9C58-DAFB678B9EBF}">
      <dgm:prSet/>
      <dgm:spPr/>
      <dgm:t>
        <a:bodyPr/>
        <a:lstStyle/>
        <a:p>
          <a:endParaRPr lang="en-IN"/>
        </a:p>
      </dgm:t>
    </dgm:pt>
    <dgm:pt modelId="{48E46310-E681-41B8-8A5C-EAB771E07F00}">
      <dgm:prSet phldrT="[Text]" phldr="0" custT="1"/>
      <dgm:spPr/>
      <dgm:t>
        <a:bodyPr/>
        <a:lstStyle/>
        <a:p>
          <a:r>
            <a:rPr lang="en-IN" sz="2000" dirty="0">
              <a:latin typeface="Times New Roman" panose="02020603050405020304" pitchFamily="18" charset="0"/>
              <a:cs typeface="Times New Roman" panose="02020603050405020304" pitchFamily="18" charset="0"/>
            </a:rPr>
            <a:t>Displays results and analysis.</a:t>
          </a:r>
        </a:p>
      </dgm:t>
    </dgm:pt>
    <dgm:pt modelId="{30D6020B-1C9D-41FC-A937-D4E6CCDB4F11}" type="parTrans" cxnId="{E3043947-0924-49B4-A040-8B942114F1B6}">
      <dgm:prSet/>
      <dgm:spPr/>
      <dgm:t>
        <a:bodyPr/>
        <a:lstStyle/>
        <a:p>
          <a:endParaRPr lang="en-IN"/>
        </a:p>
      </dgm:t>
    </dgm:pt>
    <dgm:pt modelId="{AA7718B6-8435-432C-B63C-12A626CA7EF5}" type="sibTrans" cxnId="{E3043947-0924-49B4-A040-8B942114F1B6}">
      <dgm:prSet/>
      <dgm:spPr/>
      <dgm:t>
        <a:bodyPr/>
        <a:lstStyle/>
        <a:p>
          <a:endParaRPr lang="en-IN"/>
        </a:p>
      </dgm:t>
    </dgm:pt>
    <dgm:pt modelId="{5DF485BC-37AE-451D-9EE4-6B6B66A65C73}" type="pres">
      <dgm:prSet presAssocID="{9F0BAF97-7714-4D06-AAC8-68C0DC8A4889}" presName="Name0" presStyleCnt="0">
        <dgm:presLayoutVars>
          <dgm:dir/>
          <dgm:resizeHandles val="exact"/>
        </dgm:presLayoutVars>
      </dgm:prSet>
      <dgm:spPr/>
    </dgm:pt>
    <dgm:pt modelId="{71FC4061-9879-482F-A9B5-F4DCA3089272}" type="pres">
      <dgm:prSet presAssocID="{3DDA1875-09B8-4CD5-BBF1-DB78BC23D0FA}" presName="node" presStyleLbl="node1" presStyleIdx="0" presStyleCnt="5">
        <dgm:presLayoutVars>
          <dgm:bulletEnabled val="1"/>
        </dgm:presLayoutVars>
      </dgm:prSet>
      <dgm:spPr/>
    </dgm:pt>
    <dgm:pt modelId="{B9D39728-D194-4666-9E5D-7EC3F473FD56}" type="pres">
      <dgm:prSet presAssocID="{7C7B3D75-B794-44C1-8802-F914932D562B}" presName="sibTrans" presStyleLbl="sibTrans1D1" presStyleIdx="0" presStyleCnt="4"/>
      <dgm:spPr/>
    </dgm:pt>
    <dgm:pt modelId="{3EE55BB3-BBAE-4622-9F83-D2CEBB985DDD}" type="pres">
      <dgm:prSet presAssocID="{7C7B3D75-B794-44C1-8802-F914932D562B}" presName="connectorText" presStyleLbl="sibTrans1D1" presStyleIdx="0" presStyleCnt="4"/>
      <dgm:spPr/>
    </dgm:pt>
    <dgm:pt modelId="{E4C1541D-1F1C-4537-A59A-190D99043210}" type="pres">
      <dgm:prSet presAssocID="{92D42C2A-64C2-4835-90BA-3ADEADED413F}" presName="node" presStyleLbl="node1" presStyleIdx="1" presStyleCnt="5">
        <dgm:presLayoutVars>
          <dgm:bulletEnabled val="1"/>
        </dgm:presLayoutVars>
      </dgm:prSet>
      <dgm:spPr/>
    </dgm:pt>
    <dgm:pt modelId="{0BCD9F8A-B579-4521-809B-D07DA7DF6B63}" type="pres">
      <dgm:prSet presAssocID="{FB4536D7-52A9-49F6-A2FE-AE179F4F8ED5}" presName="sibTrans" presStyleLbl="sibTrans1D1" presStyleIdx="1" presStyleCnt="4"/>
      <dgm:spPr/>
    </dgm:pt>
    <dgm:pt modelId="{419BD213-1454-4A5E-A700-0147E83720A8}" type="pres">
      <dgm:prSet presAssocID="{FB4536D7-52A9-49F6-A2FE-AE179F4F8ED5}" presName="connectorText" presStyleLbl="sibTrans1D1" presStyleIdx="1" presStyleCnt="4"/>
      <dgm:spPr/>
    </dgm:pt>
    <dgm:pt modelId="{25955A79-399E-4F92-9491-0C55E5006E2C}" type="pres">
      <dgm:prSet presAssocID="{6E068E39-88AB-4EDB-B38B-AF0C662F9474}" presName="node" presStyleLbl="node1" presStyleIdx="2" presStyleCnt="5" custLinFactNeighborX="266" custLinFactNeighborY="-941">
        <dgm:presLayoutVars>
          <dgm:bulletEnabled val="1"/>
        </dgm:presLayoutVars>
      </dgm:prSet>
      <dgm:spPr/>
    </dgm:pt>
    <dgm:pt modelId="{34846C2B-3CB9-46C9-AB43-8853FA1C0785}" type="pres">
      <dgm:prSet presAssocID="{B990D7AF-AB50-4D11-96B7-EC47595BBE16}" presName="sibTrans" presStyleLbl="sibTrans1D1" presStyleIdx="2" presStyleCnt="4"/>
      <dgm:spPr/>
    </dgm:pt>
    <dgm:pt modelId="{BE333F5B-775D-4A08-8107-C7A0D192A937}" type="pres">
      <dgm:prSet presAssocID="{B990D7AF-AB50-4D11-96B7-EC47595BBE16}" presName="connectorText" presStyleLbl="sibTrans1D1" presStyleIdx="2" presStyleCnt="4"/>
      <dgm:spPr/>
    </dgm:pt>
    <dgm:pt modelId="{2E3BC211-C651-4B52-AF5A-A16A7D4A752C}" type="pres">
      <dgm:prSet presAssocID="{0C1DAB72-F1FB-4FC0-87DA-79DE953BFFF1}" presName="node" presStyleLbl="node1" presStyleIdx="3" presStyleCnt="5">
        <dgm:presLayoutVars>
          <dgm:bulletEnabled val="1"/>
        </dgm:presLayoutVars>
      </dgm:prSet>
      <dgm:spPr/>
    </dgm:pt>
    <dgm:pt modelId="{F4B24C4D-F436-4882-8DFB-682578065723}" type="pres">
      <dgm:prSet presAssocID="{42AFFF6B-6182-454A-AE3D-0B874B7FD3DF}" presName="sibTrans" presStyleLbl="sibTrans1D1" presStyleIdx="3" presStyleCnt="4"/>
      <dgm:spPr/>
    </dgm:pt>
    <dgm:pt modelId="{129CCD87-5D46-45C0-98ED-2D4AE14367A1}" type="pres">
      <dgm:prSet presAssocID="{42AFFF6B-6182-454A-AE3D-0B874B7FD3DF}" presName="connectorText" presStyleLbl="sibTrans1D1" presStyleIdx="3" presStyleCnt="4"/>
      <dgm:spPr/>
    </dgm:pt>
    <dgm:pt modelId="{F56BE9FB-A1C8-4C08-BE20-95B2535453B8}" type="pres">
      <dgm:prSet presAssocID="{48E46310-E681-41B8-8A5C-EAB771E07F00}" presName="node" presStyleLbl="node1" presStyleIdx="4" presStyleCnt="5">
        <dgm:presLayoutVars>
          <dgm:bulletEnabled val="1"/>
        </dgm:presLayoutVars>
      </dgm:prSet>
      <dgm:spPr/>
    </dgm:pt>
  </dgm:ptLst>
  <dgm:cxnLst>
    <dgm:cxn modelId="{944C5F0C-5789-4B59-BAD4-2365F85E0C00}" type="presOf" srcId="{48E46310-E681-41B8-8A5C-EAB771E07F00}" destId="{F56BE9FB-A1C8-4C08-BE20-95B2535453B8}" srcOrd="0" destOrd="0" presId="urn:microsoft.com/office/officeart/2005/8/layout/bProcess3"/>
    <dgm:cxn modelId="{0D071762-D0A8-4436-9151-FA5C5D725400}" type="presOf" srcId="{92D42C2A-64C2-4835-90BA-3ADEADED413F}" destId="{E4C1541D-1F1C-4537-A59A-190D99043210}" srcOrd="0" destOrd="0" presId="urn:microsoft.com/office/officeart/2005/8/layout/bProcess3"/>
    <dgm:cxn modelId="{E3043947-0924-49B4-A040-8B942114F1B6}" srcId="{9F0BAF97-7714-4D06-AAC8-68C0DC8A4889}" destId="{48E46310-E681-41B8-8A5C-EAB771E07F00}" srcOrd="4" destOrd="0" parTransId="{30D6020B-1C9D-41FC-A937-D4E6CCDB4F11}" sibTransId="{AA7718B6-8435-432C-B63C-12A626CA7EF5}"/>
    <dgm:cxn modelId="{AA49154D-C5EE-4078-9C11-48611E6B4622}" srcId="{9F0BAF97-7714-4D06-AAC8-68C0DC8A4889}" destId="{92D42C2A-64C2-4835-90BA-3ADEADED413F}" srcOrd="1" destOrd="0" parTransId="{3F193FB6-ABB6-4021-9862-52FF1B6BD79B}" sibTransId="{FB4536D7-52A9-49F6-A2FE-AE179F4F8ED5}"/>
    <dgm:cxn modelId="{5C90A454-5404-49C2-B2F7-48461AC7DBC8}" type="presOf" srcId="{0C1DAB72-F1FB-4FC0-87DA-79DE953BFFF1}" destId="{2E3BC211-C651-4B52-AF5A-A16A7D4A752C}" srcOrd="0" destOrd="0" presId="urn:microsoft.com/office/officeart/2005/8/layout/bProcess3"/>
    <dgm:cxn modelId="{CA09CB75-2FA5-400E-9358-8A8E605F476F}" type="presOf" srcId="{9F0BAF97-7714-4D06-AAC8-68C0DC8A4889}" destId="{5DF485BC-37AE-451D-9EE4-6B6B66A65C73}" srcOrd="0" destOrd="0" presId="urn:microsoft.com/office/officeart/2005/8/layout/bProcess3"/>
    <dgm:cxn modelId="{68CE0256-55E9-4DF0-B562-886927153811}" type="presOf" srcId="{FB4536D7-52A9-49F6-A2FE-AE179F4F8ED5}" destId="{0BCD9F8A-B579-4521-809B-D07DA7DF6B63}" srcOrd="0" destOrd="0" presId="urn:microsoft.com/office/officeart/2005/8/layout/bProcess3"/>
    <dgm:cxn modelId="{C4FEDD76-263F-45AA-B35D-C746F9F7D28D}" type="presOf" srcId="{7C7B3D75-B794-44C1-8802-F914932D562B}" destId="{B9D39728-D194-4666-9E5D-7EC3F473FD56}" srcOrd="0" destOrd="0" presId="urn:microsoft.com/office/officeart/2005/8/layout/bProcess3"/>
    <dgm:cxn modelId="{3C315B81-EE74-41CB-9378-F7AEEE84F6DC}" type="presOf" srcId="{3DDA1875-09B8-4CD5-BBF1-DB78BC23D0FA}" destId="{71FC4061-9879-482F-A9B5-F4DCA3089272}" srcOrd="0" destOrd="0" presId="urn:microsoft.com/office/officeart/2005/8/layout/bProcess3"/>
    <dgm:cxn modelId="{0395B68A-6CE6-40C0-B525-CED0B42C61BF}" type="presOf" srcId="{B990D7AF-AB50-4D11-96B7-EC47595BBE16}" destId="{BE333F5B-775D-4A08-8107-C7A0D192A937}" srcOrd="1" destOrd="0" presId="urn:microsoft.com/office/officeart/2005/8/layout/bProcess3"/>
    <dgm:cxn modelId="{52E9308C-CCF6-4418-98DD-FA96C574FBC9}" type="presOf" srcId="{6E068E39-88AB-4EDB-B38B-AF0C662F9474}" destId="{25955A79-399E-4F92-9491-0C55E5006E2C}" srcOrd="0" destOrd="0" presId="urn:microsoft.com/office/officeart/2005/8/layout/bProcess3"/>
    <dgm:cxn modelId="{04928E8E-D653-4AA3-A6E8-79C32BCECA69}" srcId="{9F0BAF97-7714-4D06-AAC8-68C0DC8A4889}" destId="{6E068E39-88AB-4EDB-B38B-AF0C662F9474}" srcOrd="2" destOrd="0" parTransId="{A366B101-6575-4ABE-8BEC-95EFFC0A6874}" sibTransId="{B990D7AF-AB50-4D11-96B7-EC47595BBE16}"/>
    <dgm:cxn modelId="{AB8C3F98-9B0E-4C5C-9C58-DAFB678B9EBF}" srcId="{9F0BAF97-7714-4D06-AAC8-68C0DC8A4889}" destId="{0C1DAB72-F1FB-4FC0-87DA-79DE953BFFF1}" srcOrd="3" destOrd="0" parTransId="{BF00D1D1-D426-4EC2-80B2-68BD0D37EBF6}" sibTransId="{42AFFF6B-6182-454A-AE3D-0B874B7FD3DF}"/>
    <dgm:cxn modelId="{B27A9DA1-277C-4EEF-8263-283E3F76D62A}" type="presOf" srcId="{42AFFF6B-6182-454A-AE3D-0B874B7FD3DF}" destId="{129CCD87-5D46-45C0-98ED-2D4AE14367A1}" srcOrd="1" destOrd="0" presId="urn:microsoft.com/office/officeart/2005/8/layout/bProcess3"/>
    <dgm:cxn modelId="{C417DCB5-E4C0-4FFC-A0EF-D4794CE15C75}" type="presOf" srcId="{FB4536D7-52A9-49F6-A2FE-AE179F4F8ED5}" destId="{419BD213-1454-4A5E-A700-0147E83720A8}" srcOrd="1" destOrd="0" presId="urn:microsoft.com/office/officeart/2005/8/layout/bProcess3"/>
    <dgm:cxn modelId="{532B48DF-D788-4BBB-AB30-A866D5990924}" type="presOf" srcId="{B990D7AF-AB50-4D11-96B7-EC47595BBE16}" destId="{34846C2B-3CB9-46C9-AB43-8853FA1C0785}" srcOrd="0" destOrd="0" presId="urn:microsoft.com/office/officeart/2005/8/layout/bProcess3"/>
    <dgm:cxn modelId="{234685E6-6419-4479-B190-8E818DDDB747}" type="presOf" srcId="{42AFFF6B-6182-454A-AE3D-0B874B7FD3DF}" destId="{F4B24C4D-F436-4882-8DFB-682578065723}" srcOrd="0" destOrd="0" presId="urn:microsoft.com/office/officeart/2005/8/layout/bProcess3"/>
    <dgm:cxn modelId="{8D5238ED-0656-4ED6-8009-EE793D8E9E17}" type="presOf" srcId="{7C7B3D75-B794-44C1-8802-F914932D562B}" destId="{3EE55BB3-BBAE-4622-9F83-D2CEBB985DDD}" srcOrd="1" destOrd="0" presId="urn:microsoft.com/office/officeart/2005/8/layout/bProcess3"/>
    <dgm:cxn modelId="{8E3981F2-CC8C-48A5-BEF6-01E832273AA2}" srcId="{9F0BAF97-7714-4D06-AAC8-68C0DC8A4889}" destId="{3DDA1875-09B8-4CD5-BBF1-DB78BC23D0FA}" srcOrd="0" destOrd="0" parTransId="{BB7534BF-507A-4DF8-9408-E75FE0342BF2}" sibTransId="{7C7B3D75-B794-44C1-8802-F914932D562B}"/>
    <dgm:cxn modelId="{90664065-D3F0-4C4A-AD1A-288A70C5FABA}" type="presParOf" srcId="{5DF485BC-37AE-451D-9EE4-6B6B66A65C73}" destId="{71FC4061-9879-482F-A9B5-F4DCA3089272}" srcOrd="0" destOrd="0" presId="urn:microsoft.com/office/officeart/2005/8/layout/bProcess3"/>
    <dgm:cxn modelId="{EE2C5908-84C1-43D5-910C-BA0FE736D60E}" type="presParOf" srcId="{5DF485BC-37AE-451D-9EE4-6B6B66A65C73}" destId="{B9D39728-D194-4666-9E5D-7EC3F473FD56}" srcOrd="1" destOrd="0" presId="urn:microsoft.com/office/officeart/2005/8/layout/bProcess3"/>
    <dgm:cxn modelId="{704C0C51-E9AB-4129-A3DF-37F893D2AE02}" type="presParOf" srcId="{B9D39728-D194-4666-9E5D-7EC3F473FD56}" destId="{3EE55BB3-BBAE-4622-9F83-D2CEBB985DDD}" srcOrd="0" destOrd="0" presId="urn:microsoft.com/office/officeart/2005/8/layout/bProcess3"/>
    <dgm:cxn modelId="{A5D9719B-4CB0-4C76-9B28-43717ACE50C2}" type="presParOf" srcId="{5DF485BC-37AE-451D-9EE4-6B6B66A65C73}" destId="{E4C1541D-1F1C-4537-A59A-190D99043210}" srcOrd="2" destOrd="0" presId="urn:microsoft.com/office/officeart/2005/8/layout/bProcess3"/>
    <dgm:cxn modelId="{41D272B0-E2DA-483A-A71E-E3D60C15B1A9}" type="presParOf" srcId="{5DF485BC-37AE-451D-9EE4-6B6B66A65C73}" destId="{0BCD9F8A-B579-4521-809B-D07DA7DF6B63}" srcOrd="3" destOrd="0" presId="urn:microsoft.com/office/officeart/2005/8/layout/bProcess3"/>
    <dgm:cxn modelId="{D1F00F1D-2A7E-44B8-95FA-745EBF9E3684}" type="presParOf" srcId="{0BCD9F8A-B579-4521-809B-D07DA7DF6B63}" destId="{419BD213-1454-4A5E-A700-0147E83720A8}" srcOrd="0" destOrd="0" presId="urn:microsoft.com/office/officeart/2005/8/layout/bProcess3"/>
    <dgm:cxn modelId="{6F3EB0C5-3925-4990-BC35-D01638889F8F}" type="presParOf" srcId="{5DF485BC-37AE-451D-9EE4-6B6B66A65C73}" destId="{25955A79-399E-4F92-9491-0C55E5006E2C}" srcOrd="4" destOrd="0" presId="urn:microsoft.com/office/officeart/2005/8/layout/bProcess3"/>
    <dgm:cxn modelId="{ADFDF95E-BAC5-41EB-80D7-A11159482819}" type="presParOf" srcId="{5DF485BC-37AE-451D-9EE4-6B6B66A65C73}" destId="{34846C2B-3CB9-46C9-AB43-8853FA1C0785}" srcOrd="5" destOrd="0" presId="urn:microsoft.com/office/officeart/2005/8/layout/bProcess3"/>
    <dgm:cxn modelId="{FB5B7D34-3D67-46D7-AFA2-B2331B0CEBF6}" type="presParOf" srcId="{34846C2B-3CB9-46C9-AB43-8853FA1C0785}" destId="{BE333F5B-775D-4A08-8107-C7A0D192A937}" srcOrd="0" destOrd="0" presId="urn:microsoft.com/office/officeart/2005/8/layout/bProcess3"/>
    <dgm:cxn modelId="{ED854A8A-97E8-457A-AEF7-029BD6B55CC6}" type="presParOf" srcId="{5DF485BC-37AE-451D-9EE4-6B6B66A65C73}" destId="{2E3BC211-C651-4B52-AF5A-A16A7D4A752C}" srcOrd="6" destOrd="0" presId="urn:microsoft.com/office/officeart/2005/8/layout/bProcess3"/>
    <dgm:cxn modelId="{8AE3ADCA-91A5-45AB-8EBA-6D8859AF6C44}" type="presParOf" srcId="{5DF485BC-37AE-451D-9EE4-6B6B66A65C73}" destId="{F4B24C4D-F436-4882-8DFB-682578065723}" srcOrd="7" destOrd="0" presId="urn:microsoft.com/office/officeart/2005/8/layout/bProcess3"/>
    <dgm:cxn modelId="{AF5850EC-6927-49CD-A60B-E99A8EC77E41}" type="presParOf" srcId="{F4B24C4D-F436-4882-8DFB-682578065723}" destId="{129CCD87-5D46-45C0-98ED-2D4AE14367A1}" srcOrd="0" destOrd="0" presId="urn:microsoft.com/office/officeart/2005/8/layout/bProcess3"/>
    <dgm:cxn modelId="{ED906B08-2B3D-491F-A5D6-2E4A80160855}" type="presParOf" srcId="{5DF485BC-37AE-451D-9EE4-6B6B66A65C73}" destId="{F56BE9FB-A1C8-4C08-BE20-95B2535453B8}" srcOrd="8"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D39728-D194-4666-9E5D-7EC3F473FD56}">
      <dsp:nvSpPr>
        <dsp:cNvPr id="0" name=""/>
        <dsp:cNvSpPr/>
      </dsp:nvSpPr>
      <dsp:spPr>
        <a:xfrm>
          <a:off x="3040792" y="870618"/>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357014" y="912848"/>
        <a:ext cx="34897" cy="6979"/>
      </dsp:txXfrm>
    </dsp:sp>
    <dsp:sp modelId="{71FC4061-9879-482F-A9B5-F4DCA3089272}">
      <dsp:nvSpPr>
        <dsp:cNvPr id="0" name=""/>
        <dsp:cNvSpPr/>
      </dsp:nvSpPr>
      <dsp:spPr>
        <a:xfrm>
          <a:off x="8061" y="5979"/>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Develop a web-based system</a:t>
          </a:r>
        </a:p>
      </dsp:txBody>
      <dsp:txXfrm>
        <a:off x="8061" y="5979"/>
        <a:ext cx="3034531" cy="1820718"/>
      </dsp:txXfrm>
    </dsp:sp>
    <dsp:sp modelId="{0BCD9F8A-B579-4521-809B-D07DA7DF6B63}">
      <dsp:nvSpPr>
        <dsp:cNvPr id="0" name=""/>
        <dsp:cNvSpPr/>
      </dsp:nvSpPr>
      <dsp:spPr>
        <a:xfrm>
          <a:off x="6773265" y="864639"/>
          <a:ext cx="675403" cy="91440"/>
        </a:xfrm>
        <a:custGeom>
          <a:avLst/>
          <a:gdLst/>
          <a:ahLst/>
          <a:cxnLst/>
          <a:rect l="0" t="0" r="0" b="0"/>
          <a:pathLst>
            <a:path>
              <a:moveTo>
                <a:pt x="0" y="51699"/>
              </a:moveTo>
              <a:lnTo>
                <a:pt x="354801" y="51699"/>
              </a:lnTo>
              <a:lnTo>
                <a:pt x="354801" y="45720"/>
              </a:lnTo>
              <a:lnTo>
                <a:pt x="675403"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7093316" y="906869"/>
        <a:ext cx="35301" cy="6979"/>
      </dsp:txXfrm>
    </dsp:sp>
    <dsp:sp modelId="{E4C1541D-1F1C-4537-A59A-190D99043210}">
      <dsp:nvSpPr>
        <dsp:cNvPr id="0" name=""/>
        <dsp:cNvSpPr/>
      </dsp:nvSpPr>
      <dsp:spPr>
        <a:xfrm>
          <a:off x="3740534" y="5979"/>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Use pre-trained ML models</a:t>
          </a:r>
        </a:p>
      </dsp:txBody>
      <dsp:txXfrm>
        <a:off x="3740534" y="5979"/>
        <a:ext cx="3034531" cy="1820718"/>
      </dsp:txXfrm>
    </dsp:sp>
    <dsp:sp modelId="{34846C2B-3CB9-46C9-AB43-8853FA1C0785}">
      <dsp:nvSpPr>
        <dsp:cNvPr id="0" name=""/>
        <dsp:cNvSpPr/>
      </dsp:nvSpPr>
      <dsp:spPr>
        <a:xfrm>
          <a:off x="1525326" y="1818918"/>
          <a:ext cx="7473007" cy="673321"/>
        </a:xfrm>
        <a:custGeom>
          <a:avLst/>
          <a:gdLst/>
          <a:ahLst/>
          <a:cxnLst/>
          <a:rect l="0" t="0" r="0" b="0"/>
          <a:pathLst>
            <a:path>
              <a:moveTo>
                <a:pt x="7473007" y="0"/>
              </a:moveTo>
              <a:lnTo>
                <a:pt x="7473007" y="353760"/>
              </a:lnTo>
              <a:lnTo>
                <a:pt x="0" y="353760"/>
              </a:lnTo>
              <a:lnTo>
                <a:pt x="0" y="673321"/>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074178" y="2152089"/>
        <a:ext cx="375304" cy="6979"/>
      </dsp:txXfrm>
    </dsp:sp>
    <dsp:sp modelId="{25955A79-399E-4F92-9491-0C55E5006E2C}">
      <dsp:nvSpPr>
        <dsp:cNvPr id="0" name=""/>
        <dsp:cNvSpPr/>
      </dsp:nvSpPr>
      <dsp:spPr>
        <a:xfrm>
          <a:off x="7481068" y="0"/>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User uploads dataset and selects model</a:t>
          </a:r>
        </a:p>
      </dsp:txBody>
      <dsp:txXfrm>
        <a:off x="7481068" y="0"/>
        <a:ext cx="3034531" cy="1820718"/>
      </dsp:txXfrm>
    </dsp:sp>
    <dsp:sp modelId="{F4B24C4D-F436-4882-8DFB-682578065723}">
      <dsp:nvSpPr>
        <dsp:cNvPr id="0" name=""/>
        <dsp:cNvSpPr/>
      </dsp:nvSpPr>
      <dsp:spPr>
        <a:xfrm>
          <a:off x="3040792" y="3389279"/>
          <a:ext cx="667342" cy="91440"/>
        </a:xfrm>
        <a:custGeom>
          <a:avLst/>
          <a:gdLst/>
          <a:ahLst/>
          <a:cxnLst/>
          <a:rect l="0" t="0" r="0" b="0"/>
          <a:pathLst>
            <a:path>
              <a:moveTo>
                <a:pt x="0" y="45720"/>
              </a:moveTo>
              <a:lnTo>
                <a:pt x="667342"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357014" y="3431509"/>
        <a:ext cx="34897" cy="6979"/>
      </dsp:txXfrm>
    </dsp:sp>
    <dsp:sp modelId="{2E3BC211-C651-4B52-AF5A-A16A7D4A752C}">
      <dsp:nvSpPr>
        <dsp:cNvPr id="0" name=""/>
        <dsp:cNvSpPr/>
      </dsp:nvSpPr>
      <dsp:spPr>
        <a:xfrm>
          <a:off x="8061" y="2524640"/>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System performs prediction </a:t>
          </a:r>
        </a:p>
      </dsp:txBody>
      <dsp:txXfrm>
        <a:off x="8061" y="2524640"/>
        <a:ext cx="3034531" cy="1820718"/>
      </dsp:txXfrm>
    </dsp:sp>
    <dsp:sp modelId="{F56BE9FB-A1C8-4C08-BE20-95B2535453B8}">
      <dsp:nvSpPr>
        <dsp:cNvPr id="0" name=""/>
        <dsp:cNvSpPr/>
      </dsp:nvSpPr>
      <dsp:spPr>
        <a:xfrm>
          <a:off x="3740534" y="2524640"/>
          <a:ext cx="3034531" cy="182071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IN" sz="2000" kern="1200" dirty="0">
              <a:latin typeface="Times New Roman" panose="02020603050405020304" pitchFamily="18" charset="0"/>
              <a:cs typeface="Times New Roman" panose="02020603050405020304" pitchFamily="18" charset="0"/>
            </a:rPr>
            <a:t>Displays results and analysis.</a:t>
          </a:r>
        </a:p>
      </dsp:txBody>
      <dsp:txXfrm>
        <a:off x="3740534" y="2524640"/>
        <a:ext cx="3034531" cy="1820718"/>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DAAEFB-A47B-4BD5-B1A5-31424B0907FC}"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7F9394-82B7-42AD-BA76-A26D8FF941FF}" type="slidenum">
              <a:rPr lang="en-IN" smtClean="0"/>
              <a:t>‹#›</a:t>
            </a:fld>
            <a:endParaRPr lang="en-IN"/>
          </a:p>
        </p:txBody>
      </p:sp>
    </p:spTree>
    <p:extLst>
      <p:ext uri="{BB962C8B-B14F-4D97-AF65-F5344CB8AC3E}">
        <p14:creationId xmlns:p14="http://schemas.microsoft.com/office/powerpoint/2010/main" val="1468581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B7F9394-82B7-42AD-BA76-A26D8FF941FF}" type="slidenum">
              <a:rPr lang="en-IN" smtClean="0"/>
              <a:t>9</a:t>
            </a:fld>
            <a:endParaRPr lang="en-IN"/>
          </a:p>
        </p:txBody>
      </p:sp>
    </p:spTree>
    <p:extLst>
      <p:ext uri="{BB962C8B-B14F-4D97-AF65-F5344CB8AC3E}">
        <p14:creationId xmlns:p14="http://schemas.microsoft.com/office/powerpoint/2010/main" val="1904327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7369E-1D01-4E18-A41B-972E5282A5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D7ACB01-ADDD-13C8-7D78-4FD47D1E31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7C7438D-EA18-361E-D59E-1533772630B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250E2FD9-74C2-C9B0-1BDC-57B92DCB66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9E74D17-63FA-E32E-A58E-46645943559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050081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BA9A7-DC78-3CB3-7F00-929E421E9B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8F4783-8B8F-B836-F68D-81BDF16A16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FE82BE-60AE-D797-7868-81B8EF463DF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6DD90722-9270-7EDB-981C-B923AA08C7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9E6731-DBE6-4F74-E2CF-7659DBC87CF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09242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B8AFF-E64A-AF8D-BBC2-E5AB945B44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9ACB9A4-3B4F-7FE6-9B28-F5EF72B2577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CA73C0-5E6E-B28A-6C22-06D9AC4726B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4C49FA3B-4073-0F86-8AC8-81E0E4C3EB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F5269F-612E-B784-B48A-95AA0791073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61024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166B-106E-C76B-9CE8-1B9A4AE5C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43AF0E-E8F2-1B19-B65C-0E1CC0813A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6CFFB13-732B-DEF8-DBEC-5F73E2395F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A273C03-C9D7-F051-B57E-8DA06873D419}"/>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6" name="Footer Placeholder 5">
            <a:extLst>
              <a:ext uri="{FF2B5EF4-FFF2-40B4-BE49-F238E27FC236}">
                <a16:creationId xmlns:a16="http://schemas.microsoft.com/office/drawing/2014/main" id="{F25D1B14-3A56-41BB-4E4A-4735998ADAD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854A9C-028F-0B55-463A-1087581A98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57903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166EC-9430-6B3D-E0CE-0A71B38A96B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6AD1-F80A-C09B-B640-E65D99E68F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C293B4-0027-A04C-BA3E-441C93A1D84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A4E42C3-BCA9-FB95-D8DC-7F3044ADD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C8EFB4-7BB2-F8E3-21FC-7E4A10DFDE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7B1C773-744A-FCD3-C078-3DC992C321D2}"/>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8" name="Footer Placeholder 7">
            <a:extLst>
              <a:ext uri="{FF2B5EF4-FFF2-40B4-BE49-F238E27FC236}">
                <a16:creationId xmlns:a16="http://schemas.microsoft.com/office/drawing/2014/main" id="{55F26583-570F-F397-D583-9963BD0D010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8FC52-BDE3-9E21-7004-9001CC624A20}"/>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8764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917DB-BC11-A965-7D47-A83062720EC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559EBB-66AC-0A22-FB25-AA24D188299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4" name="Footer Placeholder 3">
            <a:extLst>
              <a:ext uri="{FF2B5EF4-FFF2-40B4-BE49-F238E27FC236}">
                <a16:creationId xmlns:a16="http://schemas.microsoft.com/office/drawing/2014/main" id="{EF21C889-A42D-7ECD-6189-48F6199C523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33D6C85-1A5C-85A2-D47F-73050C49CBA1}"/>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920732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56DA96-DA53-0AED-0F58-E803782E3196}"/>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3" name="Footer Placeholder 2">
            <a:extLst>
              <a:ext uri="{FF2B5EF4-FFF2-40B4-BE49-F238E27FC236}">
                <a16:creationId xmlns:a16="http://schemas.microsoft.com/office/drawing/2014/main" id="{528408AC-42F9-A3E6-20C6-19B6AFB04F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0579749-EC75-7164-FBE8-61C5FD951927}"/>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301235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BE5F6-B24D-5E61-DC38-DA3F87B34E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8B0E6B7-31E9-4177-5C1F-03A7DBD36C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6910E19-657E-B541-E036-959BA4187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A2AEC1-909F-60C3-702B-6244A8A7DA9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6" name="Footer Placeholder 5">
            <a:extLst>
              <a:ext uri="{FF2B5EF4-FFF2-40B4-BE49-F238E27FC236}">
                <a16:creationId xmlns:a16="http://schemas.microsoft.com/office/drawing/2014/main" id="{C9E9E6BA-2E7B-3E57-2F0C-5F2FD17199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B71D75-64B2-1389-FADB-ED9520B8A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3174431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1262D-CF25-FD3A-5B0C-AFA7F0A7DB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C1E524-18D7-464E-3F34-14CBF4862E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E712348-99C4-F005-5D92-24A299F99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898F6-D595-1FDE-2158-79E6686C822F}"/>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6" name="Footer Placeholder 5">
            <a:extLst>
              <a:ext uri="{FF2B5EF4-FFF2-40B4-BE49-F238E27FC236}">
                <a16:creationId xmlns:a16="http://schemas.microsoft.com/office/drawing/2014/main" id="{D8E67F9F-625D-1107-9BCE-138B29817E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ADC0215-9ED1-CB53-652D-46D93AD26949}"/>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70034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DE86-64B7-9F0A-5001-6F43A0FA6BB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37D706-8AAA-2524-04BB-26C4624206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18E778-061C-459E-CD0C-58DCA0CF7CCD}"/>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78AFE4EF-7849-CFF9-1385-7BDB42DF6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DA96F9-D0E3-05A9-C32F-CCFCFCE6E658}"/>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9119486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D04E30-06E1-5212-4B6D-25886B9C37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1C275C-3D2D-2452-9149-89BBE7CA68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4C131ED-A5B2-3FF2-8E5C-283664ABEB81}"/>
              </a:ext>
            </a:extLst>
          </p:cNvPr>
          <p:cNvSpPr>
            <a:spLocks noGrp="1"/>
          </p:cNvSpPr>
          <p:nvPr>
            <p:ph type="dt" sz="half" idx="10"/>
          </p:nvPr>
        </p:nvSpPr>
        <p:spPr/>
        <p:txBody>
          <a:body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A61C8846-9586-A23A-3D98-740B85ED210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D27319-B31F-9567-7E64-8BEAB1A3C6BF}"/>
              </a:ext>
            </a:extLst>
          </p:cNvPr>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074769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79A75-0843-3E26-FA3D-7955B436D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2FA1EE1-247A-E887-762B-4BC2DBFD35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3DF53D-E00E-7D7F-402F-506A960A97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FACB4A-C46D-47C8-95BF-463F9F428625}" type="datetimeFigureOut">
              <a:rPr lang="en-IN" smtClean="0"/>
              <a:t>10-04-2026</a:t>
            </a:fld>
            <a:endParaRPr lang="en-IN"/>
          </a:p>
        </p:txBody>
      </p:sp>
      <p:sp>
        <p:nvSpPr>
          <p:cNvPr id="5" name="Footer Placeholder 4">
            <a:extLst>
              <a:ext uri="{FF2B5EF4-FFF2-40B4-BE49-F238E27FC236}">
                <a16:creationId xmlns:a16="http://schemas.microsoft.com/office/drawing/2014/main" id="{EBB7DC96-5252-D529-FF28-16B0D99D0D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16F4C6E2-66C6-AF10-CC28-03DE3A9BB6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2EA575-0560-4EBC-AD65-A546BB5C4677}" type="slidenum">
              <a:rPr lang="en-IN" smtClean="0"/>
              <a:t>‹#›</a:t>
            </a:fld>
            <a:endParaRPr lang="en-IN"/>
          </a:p>
        </p:txBody>
      </p:sp>
    </p:spTree>
    <p:extLst>
      <p:ext uri="{BB962C8B-B14F-4D97-AF65-F5344CB8AC3E}">
        <p14:creationId xmlns:p14="http://schemas.microsoft.com/office/powerpoint/2010/main" val="4171529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524000" y="2934586"/>
            <a:ext cx="9144000" cy="978194"/>
          </a:xfrm>
        </p:spPr>
        <p:txBody>
          <a:bodyPr>
            <a:normAutofit fontScale="90000"/>
          </a:bodyPr>
          <a:lstStyle/>
          <a:p>
            <a:r>
              <a:rPr lang="en-US" dirty="0"/>
              <a:t>A</a:t>
            </a:r>
            <a:r>
              <a:rPr lang="en-IN" dirty="0" err="1"/>
              <a:t>nomaly</a:t>
            </a:r>
            <a:r>
              <a:rPr lang="en-IN" dirty="0"/>
              <a:t> Detection in IoT Network using Machine Learning</a:t>
            </a:r>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1077411" y="4890977"/>
            <a:ext cx="3239387" cy="1222744"/>
          </a:xfrm>
        </p:spPr>
        <p:txBody>
          <a:bodyPr/>
          <a:lstStyle/>
          <a:p>
            <a:r>
              <a:rPr lang="en-IN" dirty="0"/>
              <a:t>Submitted By:</a:t>
            </a:r>
            <a:br>
              <a:rPr lang="en-IN" dirty="0"/>
            </a:br>
            <a:r>
              <a:rPr lang="en-IN" dirty="0"/>
              <a:t>Kushagra Singh</a:t>
            </a:r>
          </a:p>
          <a:p>
            <a:r>
              <a:rPr lang="en-IN" dirty="0"/>
              <a:t>2427030043</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7875203" y="4883885"/>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br>
              <a:rPr lang="en-IN" dirty="0"/>
            </a:br>
            <a:r>
              <a:rPr lang="en-IN" dirty="0"/>
              <a:t>Dr. Praneet Saurabh</a:t>
            </a:r>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Results</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rapid growth of Internet of Things (IoT) devices has significantly increased network traffic and expanded exposure to cyber threats. Due to limited security and computational capabilities, IoT devices are highly vulnerable to attacks. Therefore, detecting anomalous behavior in IoT network traffic has become essential to ensure network security and reliability.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89221-E4FF-DD94-641B-6829CAF6507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920326A-7963-5670-D289-C0536ABC6365}"/>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Why Machine Learning?</a:t>
            </a:r>
          </a:p>
          <a:p>
            <a:r>
              <a:rPr lang="en-US" dirty="0">
                <a:latin typeface="Times New Roman" panose="02020603050405020304" pitchFamily="18" charset="0"/>
                <a:cs typeface="Times New Roman" panose="02020603050405020304" pitchFamily="18" charset="0"/>
              </a:rPr>
              <a:t>Traditional signature-based systems fail for new attacks</a:t>
            </a:r>
          </a:p>
          <a:p>
            <a:r>
              <a:rPr lang="en-US" dirty="0">
                <a:latin typeface="Times New Roman" panose="02020603050405020304" pitchFamily="18" charset="0"/>
                <a:cs typeface="Times New Roman" panose="02020603050405020304" pitchFamily="18" charset="0"/>
              </a:rPr>
              <a:t>IoT traffic is high-dimensional and dynamic</a:t>
            </a:r>
          </a:p>
          <a:p>
            <a:r>
              <a:rPr lang="en-US" dirty="0">
                <a:latin typeface="Times New Roman" panose="02020603050405020304" pitchFamily="18" charset="0"/>
                <a:cs typeface="Times New Roman" panose="02020603050405020304" pitchFamily="18" charset="0"/>
              </a:rPr>
              <a:t>ML can learn complex patterns</a:t>
            </a:r>
          </a:p>
          <a:p>
            <a:r>
              <a:rPr lang="en-US" dirty="0">
                <a:latin typeface="Times New Roman" panose="02020603050405020304" pitchFamily="18" charset="0"/>
                <a:cs typeface="Times New Roman" panose="02020603050405020304" pitchFamily="18" charset="0"/>
              </a:rPr>
              <a:t>Enables real-time anomaly detection</a:t>
            </a:r>
          </a:p>
          <a:p>
            <a:endParaRPr lang="en-IN" dirty="0"/>
          </a:p>
        </p:txBody>
      </p:sp>
    </p:spTree>
    <p:extLst>
      <p:ext uri="{BB962C8B-B14F-4D97-AF65-F5344CB8AC3E}">
        <p14:creationId xmlns:p14="http://schemas.microsoft.com/office/powerpoint/2010/main" val="20679993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Review </a:t>
            </a:r>
            <a:r>
              <a:rPr lang="en-IN" sz="2400" dirty="0">
                <a:latin typeface="Times New Roman" panose="02020603050405020304" pitchFamily="18" charset="0"/>
                <a:cs typeface="Times New Roman" panose="02020603050405020304" pitchFamily="18" charset="0"/>
              </a:rPr>
              <a:t>(</a:t>
            </a:r>
            <a:r>
              <a:rPr lang="en-US" sz="2400" b="1" dirty="0">
                <a:latin typeface="Times New Roman" panose="02020603050405020304" pitchFamily="18" charset="0"/>
                <a:cs typeface="Times New Roman" panose="02020603050405020304" pitchFamily="18" charset="0"/>
              </a:rPr>
              <a:t>Traditional Approaches)</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a:xfrm>
            <a:off x="838200" y="1446484"/>
            <a:ext cx="10515600" cy="4351338"/>
          </a:xfrm>
        </p:spPr>
        <p:txBody>
          <a:bodyPr>
            <a:normAutofit/>
          </a:bodyPr>
          <a:lstStyle/>
          <a:p>
            <a:pPr marL="0" indent="0">
              <a:buNone/>
            </a:pPr>
            <a:endParaRPr lang="en-US" sz="3600" b="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E69EC435-FEE9-13DE-06DC-6C0D8867AC10}"/>
              </a:ext>
            </a:extLst>
          </p:cNvPr>
          <p:cNvGraphicFramePr>
            <a:graphicFrameLocks noGrp="1"/>
          </p:cNvGraphicFramePr>
          <p:nvPr>
            <p:extLst>
              <p:ext uri="{D42A27DB-BD31-4B8C-83A1-F6EECF244321}">
                <p14:modId xmlns:p14="http://schemas.microsoft.com/office/powerpoint/2010/main" val="1687365222"/>
              </p:ext>
            </p:extLst>
          </p:nvPr>
        </p:nvGraphicFramePr>
        <p:xfrm>
          <a:off x="457200" y="1400237"/>
          <a:ext cx="11017408" cy="4806749"/>
        </p:xfrm>
        <a:graphic>
          <a:graphicData uri="http://schemas.openxmlformats.org/drawingml/2006/table">
            <a:tbl>
              <a:tblPr firstRow="1" bandRow="1">
                <a:tableStyleId>{5C22544A-7EE6-4342-B048-85BDC9FD1C3A}</a:tableStyleId>
              </a:tblPr>
              <a:tblGrid>
                <a:gridCol w="2754352">
                  <a:extLst>
                    <a:ext uri="{9D8B030D-6E8A-4147-A177-3AD203B41FA5}">
                      <a16:colId xmlns:a16="http://schemas.microsoft.com/office/drawing/2014/main" val="27625246"/>
                    </a:ext>
                  </a:extLst>
                </a:gridCol>
                <a:gridCol w="2754352">
                  <a:extLst>
                    <a:ext uri="{9D8B030D-6E8A-4147-A177-3AD203B41FA5}">
                      <a16:colId xmlns:a16="http://schemas.microsoft.com/office/drawing/2014/main" val="2903315835"/>
                    </a:ext>
                  </a:extLst>
                </a:gridCol>
                <a:gridCol w="2754352">
                  <a:extLst>
                    <a:ext uri="{9D8B030D-6E8A-4147-A177-3AD203B41FA5}">
                      <a16:colId xmlns:a16="http://schemas.microsoft.com/office/drawing/2014/main" val="674070447"/>
                    </a:ext>
                  </a:extLst>
                </a:gridCol>
                <a:gridCol w="2754352">
                  <a:extLst>
                    <a:ext uri="{9D8B030D-6E8A-4147-A177-3AD203B41FA5}">
                      <a16:colId xmlns:a16="http://schemas.microsoft.com/office/drawing/2014/main" val="1456666510"/>
                    </a:ext>
                  </a:extLst>
                </a:gridCol>
              </a:tblGrid>
              <a:tr h="874829">
                <a:tc>
                  <a:txBody>
                    <a:bodyPr/>
                    <a:lstStyle/>
                    <a:p>
                      <a:r>
                        <a:rPr lang="en-IN" dirty="0">
                          <a:latin typeface="Times New Roman" panose="02020603050405020304" pitchFamily="18" charset="0"/>
                          <a:cs typeface="Times New Roman" panose="02020603050405020304" pitchFamily="18" charset="0"/>
                        </a:rPr>
                        <a:t>Approach</a:t>
                      </a:r>
                    </a:p>
                  </a:txBody>
                  <a:tcPr/>
                </a:tc>
                <a:tc>
                  <a:txBody>
                    <a:bodyPr/>
                    <a:lstStyle/>
                    <a:p>
                      <a:r>
                        <a:rPr lang="en-IN" dirty="0">
                          <a:latin typeface="Times New Roman" panose="02020603050405020304" pitchFamily="18" charset="0"/>
                          <a:cs typeface="Times New Roman" panose="02020603050405020304" pitchFamily="18" charset="0"/>
                        </a:rPr>
                        <a:t>Description</a:t>
                      </a:r>
                    </a:p>
                  </a:txBody>
                  <a:tcPr/>
                </a:tc>
                <a:tc>
                  <a:txBody>
                    <a:bodyPr/>
                    <a:lstStyle/>
                    <a:p>
                      <a:r>
                        <a:rPr lang="en-IN" dirty="0">
                          <a:latin typeface="Times New Roman" panose="02020603050405020304" pitchFamily="18" charset="0"/>
                          <a:cs typeface="Times New Roman" panose="02020603050405020304" pitchFamily="18" charset="0"/>
                        </a:rPr>
                        <a:t>Advantages</a:t>
                      </a:r>
                    </a:p>
                  </a:txBody>
                  <a:tcPr/>
                </a:tc>
                <a:tc>
                  <a:txBody>
                    <a:bodyPr/>
                    <a:lstStyle/>
                    <a:p>
                      <a:r>
                        <a:rPr lang="en-IN"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1428618215"/>
                  </a:ext>
                </a:extLst>
              </a:tr>
              <a:tr h="874829">
                <a:tc>
                  <a:txBody>
                    <a:bodyPr/>
                    <a:lstStyle/>
                    <a:p>
                      <a:r>
                        <a:rPr lang="en-IN" dirty="0">
                          <a:latin typeface="Times New Roman" panose="02020603050405020304" pitchFamily="18" charset="0"/>
                          <a:cs typeface="Times New Roman" panose="02020603050405020304" pitchFamily="18" charset="0"/>
                        </a:rPr>
                        <a:t>Signature-Based Detection</a:t>
                      </a:r>
                    </a:p>
                  </a:txBody>
                  <a:tcPr/>
                </a:tc>
                <a:tc>
                  <a:txBody>
                    <a:bodyPr/>
                    <a:lstStyle/>
                    <a:p>
                      <a:r>
                        <a:rPr lang="en-US" dirty="0">
                          <a:latin typeface="Times New Roman" panose="02020603050405020304" pitchFamily="18" charset="0"/>
                          <a:cs typeface="Times New Roman" panose="02020603050405020304" pitchFamily="18" charset="0"/>
                        </a:rPr>
                        <a:t>Detects attacks by matching network traffic with predefined attack signatures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accuracy for known attacks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Cannot detect zero-day attacks; requires constant updates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17698"/>
                  </a:ext>
                </a:extLst>
              </a:tr>
              <a:tr h="874829">
                <a:tc>
                  <a:txBody>
                    <a:bodyPr/>
                    <a:lstStyle/>
                    <a:p>
                      <a:r>
                        <a:rPr lang="en-IN" dirty="0">
                          <a:latin typeface="Times New Roman" panose="02020603050405020304" pitchFamily="18" charset="0"/>
                          <a:cs typeface="Times New Roman" panose="02020603050405020304" pitchFamily="18" charset="0"/>
                        </a:rPr>
                        <a:t>Rule-Based Systems</a:t>
                      </a:r>
                    </a:p>
                  </a:txBody>
                  <a:tcPr/>
                </a:tc>
                <a:tc>
                  <a:txBody>
                    <a:bodyPr/>
                    <a:lstStyle/>
                    <a:p>
                      <a:r>
                        <a:rPr lang="en-US" dirty="0">
                          <a:latin typeface="Times New Roman" panose="02020603050405020304" pitchFamily="18" charset="0"/>
                          <a:cs typeface="Times New Roman" panose="02020603050405020304" pitchFamily="18" charset="0"/>
                        </a:rPr>
                        <a:t>Uses manually defined rules to identify suspicious behavior</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Easy to interpret and implement</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Poor scalability; not adaptive</a:t>
                      </a:r>
                    </a:p>
                  </a:txBody>
                  <a:tcPr/>
                </a:tc>
                <a:extLst>
                  <a:ext uri="{0D108BD9-81ED-4DB2-BD59-A6C34878D82A}">
                    <a16:rowId xmlns:a16="http://schemas.microsoft.com/office/drawing/2014/main" val="2645839062"/>
                  </a:ext>
                </a:extLst>
              </a:tr>
              <a:tr h="874829">
                <a:tc>
                  <a:txBody>
                    <a:bodyPr/>
                    <a:lstStyle/>
                    <a:p>
                      <a:r>
                        <a:rPr lang="en-IN" dirty="0">
                          <a:latin typeface="Times New Roman" panose="02020603050405020304" pitchFamily="18" charset="0"/>
                          <a:cs typeface="Times New Roman" panose="02020603050405020304" pitchFamily="18" charset="0"/>
                        </a:rPr>
                        <a:t>Statistical Thresholding</a:t>
                      </a:r>
                    </a:p>
                  </a:txBody>
                  <a:tcPr/>
                </a:tc>
                <a:tc>
                  <a:txBody>
                    <a:bodyPr/>
                    <a:lstStyle/>
                    <a:p>
                      <a:r>
                        <a:rPr lang="en-US" dirty="0">
                          <a:latin typeface="Times New Roman" panose="02020603050405020304" pitchFamily="18" charset="0"/>
                          <a:cs typeface="Times New Roman" panose="02020603050405020304" pitchFamily="18" charset="0"/>
                        </a:rPr>
                        <a:t>Flags anomalies based on deviation from predefined thresholds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Simple and computationally light</a:t>
                      </a:r>
                    </a:p>
                  </a:txBody>
                  <a:tcPr/>
                </a:tc>
                <a:tc>
                  <a:txBody>
                    <a:bodyPr/>
                    <a:lstStyle/>
                    <a:p>
                      <a:r>
                        <a:rPr lang="en-IN" dirty="0">
                          <a:latin typeface="Times New Roman" panose="02020603050405020304" pitchFamily="18" charset="0"/>
                          <a:cs typeface="Times New Roman" panose="02020603050405020304" pitchFamily="18" charset="0"/>
                        </a:rPr>
                        <a:t>Assumes normal distribution; high false positives</a:t>
                      </a:r>
                    </a:p>
                  </a:txBody>
                  <a:tcPr/>
                </a:tc>
                <a:extLst>
                  <a:ext uri="{0D108BD9-81ED-4DB2-BD59-A6C34878D82A}">
                    <a16:rowId xmlns:a16="http://schemas.microsoft.com/office/drawing/2014/main" val="4161291562"/>
                  </a:ext>
                </a:extLst>
              </a:tr>
              <a:tr h="874829">
                <a:tc>
                  <a:txBody>
                    <a:bodyPr/>
                    <a:lstStyle/>
                    <a:p>
                      <a:r>
                        <a:rPr lang="en-IN" dirty="0">
                          <a:latin typeface="Times New Roman" panose="02020603050405020304" pitchFamily="18" charset="0"/>
                          <a:cs typeface="Times New Roman" panose="02020603050405020304" pitchFamily="18" charset="0"/>
                        </a:rPr>
                        <a:t>Specification-Based Detection</a:t>
                      </a:r>
                    </a:p>
                  </a:txBody>
                  <a:tcPr/>
                </a:tc>
                <a:tc>
                  <a:txBody>
                    <a:bodyPr/>
                    <a:lstStyle/>
                    <a:p>
                      <a:r>
                        <a:rPr lang="en-US" dirty="0">
                          <a:latin typeface="Times New Roman" panose="02020603050405020304" pitchFamily="18" charset="0"/>
                          <a:cs typeface="Times New Roman" panose="02020603050405020304" pitchFamily="18" charset="0"/>
                        </a:rPr>
                        <a:t>Defines acceptable behavior and flags violations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Good for controlled environments</a:t>
                      </a:r>
                    </a:p>
                  </a:txBody>
                  <a:tcPr/>
                </a:tc>
                <a:tc>
                  <a:txBody>
                    <a:bodyPr/>
                    <a:lstStyle/>
                    <a:p>
                      <a:r>
                        <a:rPr lang="en-US" dirty="0">
                          <a:latin typeface="Times New Roman" panose="02020603050405020304" pitchFamily="18" charset="0"/>
                          <a:cs typeface="Times New Roman" panose="02020603050405020304" pitchFamily="18" charset="0"/>
                        </a:rPr>
                        <a:t>Difficult to define accurate specifications for dynamic IoT networks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11326798"/>
                  </a:ext>
                </a:extLst>
              </a:tr>
            </a:tbl>
          </a:graphicData>
        </a:graphic>
      </p:graphicFrame>
    </p:spTree>
    <p:extLst>
      <p:ext uri="{BB962C8B-B14F-4D97-AF65-F5344CB8AC3E}">
        <p14:creationId xmlns:p14="http://schemas.microsoft.com/office/powerpoint/2010/main" val="310308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A8FFB-AF22-420A-83AF-6D378157C45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Literature Review </a:t>
            </a:r>
            <a:r>
              <a:rPr lang="en-IN" sz="2400" b="1" dirty="0">
                <a:latin typeface="Times New Roman" panose="02020603050405020304" pitchFamily="18" charset="0"/>
                <a:cs typeface="Times New Roman" panose="02020603050405020304" pitchFamily="18" charset="0"/>
              </a:rPr>
              <a:t>(Machine Learning Approaches)</a:t>
            </a:r>
            <a:endParaRPr lang="en-IN"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4FC7F399-9864-1FA5-F09A-B93586F09EC4}"/>
              </a:ext>
            </a:extLst>
          </p:cNvPr>
          <p:cNvGraphicFramePr>
            <a:graphicFrameLocks noGrp="1"/>
          </p:cNvGraphicFramePr>
          <p:nvPr>
            <p:ph idx="1"/>
            <p:extLst>
              <p:ext uri="{D42A27DB-BD31-4B8C-83A1-F6EECF244321}">
                <p14:modId xmlns:p14="http://schemas.microsoft.com/office/powerpoint/2010/main" val="2166966383"/>
              </p:ext>
            </p:extLst>
          </p:nvPr>
        </p:nvGraphicFramePr>
        <p:xfrm>
          <a:off x="838200" y="1825625"/>
          <a:ext cx="10515600" cy="475996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688926802"/>
                    </a:ext>
                  </a:extLst>
                </a:gridCol>
                <a:gridCol w="2628900">
                  <a:extLst>
                    <a:ext uri="{9D8B030D-6E8A-4147-A177-3AD203B41FA5}">
                      <a16:colId xmlns:a16="http://schemas.microsoft.com/office/drawing/2014/main" val="3931764654"/>
                    </a:ext>
                  </a:extLst>
                </a:gridCol>
                <a:gridCol w="2628900">
                  <a:extLst>
                    <a:ext uri="{9D8B030D-6E8A-4147-A177-3AD203B41FA5}">
                      <a16:colId xmlns:a16="http://schemas.microsoft.com/office/drawing/2014/main" val="3528474401"/>
                    </a:ext>
                  </a:extLst>
                </a:gridCol>
                <a:gridCol w="2628900">
                  <a:extLst>
                    <a:ext uri="{9D8B030D-6E8A-4147-A177-3AD203B41FA5}">
                      <a16:colId xmlns:a16="http://schemas.microsoft.com/office/drawing/2014/main" val="3347449037"/>
                    </a:ext>
                  </a:extLst>
                </a:gridCol>
              </a:tblGrid>
              <a:tr h="370840">
                <a:tc>
                  <a:txBody>
                    <a:bodyPr/>
                    <a:lstStyle/>
                    <a:p>
                      <a:r>
                        <a:rPr lang="en-IN" dirty="0">
                          <a:latin typeface="Times New Roman" panose="02020603050405020304" pitchFamily="18" charset="0"/>
                          <a:cs typeface="Times New Roman" panose="02020603050405020304" pitchFamily="18" charset="0"/>
                        </a:rPr>
                        <a:t>Algorithm</a:t>
                      </a:r>
                    </a:p>
                  </a:txBody>
                  <a:tcPr/>
                </a:tc>
                <a:tc>
                  <a:txBody>
                    <a:bodyPr/>
                    <a:lstStyle/>
                    <a:p>
                      <a:r>
                        <a:rPr lang="en-IN" dirty="0">
                          <a:latin typeface="Times New Roman" panose="02020603050405020304" pitchFamily="18" charset="0"/>
                          <a:cs typeface="Times New Roman" panose="02020603050405020304" pitchFamily="18" charset="0"/>
                        </a:rPr>
                        <a:t>Description</a:t>
                      </a:r>
                    </a:p>
                  </a:txBody>
                  <a:tcPr/>
                </a:tc>
                <a:tc>
                  <a:txBody>
                    <a:bodyPr/>
                    <a:lstStyle/>
                    <a:p>
                      <a:r>
                        <a:rPr lang="en-IN" dirty="0">
                          <a:latin typeface="Times New Roman" panose="02020603050405020304" pitchFamily="18" charset="0"/>
                          <a:cs typeface="Times New Roman" panose="02020603050405020304" pitchFamily="18" charset="0"/>
                        </a:rPr>
                        <a:t>Strengths</a:t>
                      </a:r>
                    </a:p>
                  </a:txBody>
                  <a:tcPr/>
                </a:tc>
                <a:tc>
                  <a:txBody>
                    <a:bodyPr/>
                    <a:lstStyle/>
                    <a:p>
                      <a:r>
                        <a:rPr lang="en-IN"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2187053366"/>
                  </a:ext>
                </a:extLst>
              </a:tr>
              <a:tr h="370840">
                <a:tc>
                  <a:txBody>
                    <a:bodyPr/>
                    <a:lstStyle/>
                    <a:p>
                      <a:r>
                        <a:rPr lang="en-IN" dirty="0"/>
                        <a:t>Random Forest</a:t>
                      </a:r>
                    </a:p>
                  </a:txBody>
                  <a:tcPr/>
                </a:tc>
                <a:tc>
                  <a:txBody>
                    <a:bodyPr/>
                    <a:lstStyle/>
                    <a:p>
                      <a:r>
                        <a:rPr lang="en-US" dirty="0">
                          <a:latin typeface="Times New Roman" panose="02020603050405020304" pitchFamily="18" charset="0"/>
                          <a:cs typeface="Times New Roman" panose="02020603050405020304" pitchFamily="18" charset="0"/>
                        </a:rPr>
                        <a:t>Ensemble of multiple decision trees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accuracy; robust to noise; handles high-dimensional data</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Moderate computational cost</a:t>
                      </a:r>
                    </a:p>
                  </a:txBody>
                  <a:tcPr/>
                </a:tc>
                <a:extLst>
                  <a:ext uri="{0D108BD9-81ED-4DB2-BD59-A6C34878D82A}">
                    <a16:rowId xmlns:a16="http://schemas.microsoft.com/office/drawing/2014/main" val="1073362693"/>
                  </a:ext>
                </a:extLst>
              </a:tr>
              <a:tr h="370840">
                <a:tc>
                  <a:txBody>
                    <a:bodyPr/>
                    <a:lstStyle/>
                    <a:p>
                      <a:r>
                        <a:rPr lang="en-IN" dirty="0">
                          <a:latin typeface="Times New Roman" panose="02020603050405020304" pitchFamily="18" charset="0"/>
                          <a:cs typeface="Times New Roman" panose="02020603050405020304" pitchFamily="18" charset="0"/>
                        </a:rPr>
                        <a:t>Support Vector Machine (SVM)</a:t>
                      </a:r>
                    </a:p>
                  </a:txBody>
                  <a:tcPr/>
                </a:tc>
                <a:tc>
                  <a:txBody>
                    <a:bodyPr/>
                    <a:lstStyle/>
                    <a:p>
                      <a:r>
                        <a:rPr lang="en-IN" dirty="0">
                          <a:latin typeface="Times New Roman" panose="02020603050405020304" pitchFamily="18" charset="0"/>
                          <a:cs typeface="Times New Roman" panose="02020603050405020304" pitchFamily="18" charset="0"/>
                        </a:rPr>
                        <a:t>Finds optimal hyperplane for classification</a:t>
                      </a:r>
                    </a:p>
                  </a:txBody>
                  <a:tcPr/>
                </a:tc>
                <a:tc>
                  <a:txBody>
                    <a:bodyPr/>
                    <a:lstStyle/>
                    <a:p>
                      <a:r>
                        <a:rPr lang="en-US" dirty="0">
                          <a:latin typeface="Times New Roman" panose="02020603050405020304" pitchFamily="18" charset="0"/>
                          <a:cs typeface="Times New Roman" panose="02020603050405020304" pitchFamily="18" charset="0"/>
                        </a:rPr>
                        <a:t>Effective in complex decision boundaries</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Computationally expensive for large datasets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74155312"/>
                  </a:ext>
                </a:extLst>
              </a:tr>
              <a:tr h="370840">
                <a:tc>
                  <a:txBody>
                    <a:bodyPr/>
                    <a:lstStyle/>
                    <a:p>
                      <a:r>
                        <a:rPr lang="en-IN" dirty="0">
                          <a:latin typeface="Times New Roman" panose="02020603050405020304" pitchFamily="18" charset="0"/>
                          <a:cs typeface="Times New Roman" panose="02020603050405020304" pitchFamily="18" charset="0"/>
                        </a:rPr>
                        <a:t>K-Nearest </a:t>
                      </a:r>
                      <a:r>
                        <a:rPr lang="en-IN" dirty="0" err="1">
                          <a:latin typeface="Times New Roman" panose="02020603050405020304" pitchFamily="18" charset="0"/>
                          <a:cs typeface="Times New Roman" panose="02020603050405020304" pitchFamily="18" charset="0"/>
                        </a:rPr>
                        <a:t>Neighbors</a:t>
                      </a:r>
                      <a:r>
                        <a:rPr lang="en-IN" dirty="0">
                          <a:latin typeface="Times New Roman" panose="02020603050405020304" pitchFamily="18" charset="0"/>
                          <a:cs typeface="Times New Roman" panose="02020603050405020304" pitchFamily="18" charset="0"/>
                        </a:rPr>
                        <a:t> (KNN)</a:t>
                      </a:r>
                    </a:p>
                  </a:txBody>
                  <a:tcPr/>
                </a:tc>
                <a:tc>
                  <a:txBody>
                    <a:bodyPr/>
                    <a:lstStyle/>
                    <a:p>
                      <a:r>
                        <a:rPr lang="en-US" dirty="0">
                          <a:latin typeface="Times New Roman" panose="02020603050405020304" pitchFamily="18" charset="0"/>
                          <a:cs typeface="Times New Roman" panose="02020603050405020304" pitchFamily="18" charset="0"/>
                        </a:rPr>
                        <a:t>Classifies based on nearest data points</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Simple and effective</a:t>
                      </a:r>
                    </a:p>
                  </a:txBody>
                  <a:tcPr/>
                </a:tc>
                <a:tc>
                  <a:txBody>
                    <a:bodyPr/>
                    <a:lstStyle/>
                    <a:p>
                      <a:r>
                        <a:rPr lang="en-US" dirty="0">
                          <a:latin typeface="Times New Roman" panose="02020603050405020304" pitchFamily="18" charset="0"/>
                          <a:cs typeface="Times New Roman" panose="02020603050405020304" pitchFamily="18" charset="0"/>
                        </a:rPr>
                        <a:t>Slow prediction time; high memory usage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6275619"/>
                  </a:ext>
                </a:extLst>
              </a:tr>
              <a:tr h="370840">
                <a:tc>
                  <a:txBody>
                    <a:bodyPr/>
                    <a:lstStyle/>
                    <a:p>
                      <a:r>
                        <a:rPr lang="en-IN" dirty="0">
                          <a:latin typeface="Times New Roman" panose="02020603050405020304" pitchFamily="18" charset="0"/>
                          <a:cs typeface="Times New Roman" panose="02020603050405020304" pitchFamily="18" charset="0"/>
                        </a:rPr>
                        <a:t>Logistic Regression</a:t>
                      </a:r>
                    </a:p>
                  </a:txBody>
                  <a:tcPr/>
                </a:tc>
                <a:tc>
                  <a:txBody>
                    <a:bodyPr/>
                    <a:lstStyle/>
                    <a:p>
                      <a:r>
                        <a:rPr lang="en-IN" dirty="0">
                          <a:latin typeface="Times New Roman" panose="02020603050405020304" pitchFamily="18" charset="0"/>
                          <a:cs typeface="Times New Roman" panose="02020603050405020304" pitchFamily="18" charset="0"/>
                        </a:rPr>
                        <a:t>Linear classification model</a:t>
                      </a:r>
                    </a:p>
                  </a:txBody>
                  <a:tcPr/>
                </a:tc>
                <a:tc>
                  <a:txBody>
                    <a:bodyPr/>
                    <a:lstStyle/>
                    <a:p>
                      <a:r>
                        <a:rPr lang="en-IN" dirty="0">
                          <a:latin typeface="Times New Roman" panose="02020603050405020304" pitchFamily="18" charset="0"/>
                          <a:cs typeface="Times New Roman" panose="02020603050405020304" pitchFamily="18" charset="0"/>
                        </a:rPr>
                        <a:t>Fast and scalable</a:t>
                      </a:r>
                    </a:p>
                  </a:txBody>
                  <a:tcPr/>
                </a:tc>
                <a:tc>
                  <a:txBody>
                    <a:bodyPr/>
                    <a:lstStyle/>
                    <a:p>
                      <a:r>
                        <a:rPr lang="en-IN" dirty="0">
                          <a:latin typeface="Times New Roman" panose="02020603050405020304" pitchFamily="18" charset="0"/>
                          <a:cs typeface="Times New Roman" panose="02020603050405020304" pitchFamily="18" charset="0"/>
                        </a:rPr>
                        <a:t>Limited for nonlinear patterns</a:t>
                      </a:r>
                    </a:p>
                  </a:txBody>
                  <a:tcPr/>
                </a:tc>
                <a:extLst>
                  <a:ext uri="{0D108BD9-81ED-4DB2-BD59-A6C34878D82A}">
                    <a16:rowId xmlns:a16="http://schemas.microsoft.com/office/drawing/2014/main" val="181174315"/>
                  </a:ext>
                </a:extLst>
              </a:tr>
              <a:tr h="370840">
                <a:tc>
                  <a:txBody>
                    <a:bodyPr/>
                    <a:lstStyle/>
                    <a:p>
                      <a:r>
                        <a:rPr lang="en-IN" dirty="0">
                          <a:latin typeface="Times New Roman" panose="02020603050405020304" pitchFamily="18" charset="0"/>
                          <a:cs typeface="Times New Roman" panose="02020603050405020304" pitchFamily="18" charset="0"/>
                        </a:rPr>
                        <a:t>Decision Tree</a:t>
                      </a:r>
                    </a:p>
                  </a:txBody>
                  <a:tcPr/>
                </a:tc>
                <a:tc>
                  <a:txBody>
                    <a:bodyPr/>
                    <a:lstStyle/>
                    <a:p>
                      <a:r>
                        <a:rPr lang="en-IN" dirty="0">
                          <a:latin typeface="Times New Roman" panose="02020603050405020304" pitchFamily="18" charset="0"/>
                          <a:cs typeface="Times New Roman" panose="02020603050405020304" pitchFamily="18" charset="0"/>
                        </a:rPr>
                        <a:t>Tree-based classification model</a:t>
                      </a:r>
                    </a:p>
                  </a:txBody>
                  <a:tcPr/>
                </a:tc>
                <a:tc>
                  <a:txBody>
                    <a:bodyPr/>
                    <a:lstStyle/>
                    <a:p>
                      <a:r>
                        <a:rPr lang="en-IN" dirty="0">
                          <a:latin typeface="Times New Roman" panose="02020603050405020304" pitchFamily="18" charset="0"/>
                          <a:cs typeface="Times New Roman" panose="02020603050405020304" pitchFamily="18" charset="0"/>
                        </a:rPr>
                        <a:t>Easy to interpret; fast</a:t>
                      </a:r>
                    </a:p>
                  </a:txBody>
                  <a:tcPr/>
                </a:tc>
                <a:tc>
                  <a:txBody>
                    <a:bodyPr/>
                    <a:lstStyle/>
                    <a:p>
                      <a:r>
                        <a:rPr lang="en-IN" dirty="0">
                          <a:latin typeface="Times New Roman" panose="02020603050405020304" pitchFamily="18" charset="0"/>
                          <a:cs typeface="Times New Roman" panose="02020603050405020304" pitchFamily="18" charset="0"/>
                        </a:rPr>
                        <a:t>Prone to overfitting</a:t>
                      </a:r>
                    </a:p>
                  </a:txBody>
                  <a:tcPr/>
                </a:tc>
                <a:extLst>
                  <a:ext uri="{0D108BD9-81ED-4DB2-BD59-A6C34878D82A}">
                    <a16:rowId xmlns:a16="http://schemas.microsoft.com/office/drawing/2014/main" val="3949299151"/>
                  </a:ext>
                </a:extLst>
              </a:tr>
              <a:tr h="370840">
                <a:tc>
                  <a:txBody>
                    <a:bodyPr/>
                    <a:lstStyle/>
                    <a:p>
                      <a:r>
                        <a:rPr lang="en-IN" dirty="0">
                          <a:latin typeface="Times New Roman" panose="02020603050405020304" pitchFamily="18" charset="0"/>
                          <a:cs typeface="Times New Roman" panose="02020603050405020304" pitchFamily="18" charset="0"/>
                        </a:rPr>
                        <a:t>Naive Bayes</a:t>
                      </a:r>
                    </a:p>
                  </a:txBody>
                  <a:tcPr/>
                </a:tc>
                <a:tc>
                  <a:txBody>
                    <a:bodyPr/>
                    <a:lstStyle/>
                    <a:p>
                      <a:r>
                        <a:rPr lang="en-US" dirty="0">
                          <a:latin typeface="Times New Roman" panose="02020603050405020304" pitchFamily="18" charset="0"/>
                          <a:cs typeface="Times New Roman" panose="02020603050405020304" pitchFamily="18" charset="0"/>
                        </a:rPr>
                        <a:t>Probabilistic classifier based on Bayes theorem</a:t>
                      </a:r>
                      <a:endParaRPr lang="en-IN" dirty="0">
                        <a:latin typeface="Times New Roman" panose="02020603050405020304" pitchFamily="18" charset="0"/>
                        <a:cs typeface="Times New Roman" panose="02020603050405020304" pitchFamily="18" charset="0"/>
                      </a:endParaRPr>
                    </a:p>
                  </a:txBody>
                  <a:tcPr/>
                </a:tc>
                <a:tc>
                  <a:txBody>
                    <a:bodyPr/>
                    <a:lstStyle/>
                    <a:p>
                      <a:r>
                        <a:rPr lang="en-IN" dirty="0">
                          <a:latin typeface="Times New Roman" panose="02020603050405020304" pitchFamily="18" charset="0"/>
                          <a:cs typeface="Times New Roman" panose="02020603050405020304" pitchFamily="18" charset="0"/>
                        </a:rPr>
                        <a:t>Very fast and lightweight</a:t>
                      </a:r>
                    </a:p>
                  </a:txBody>
                  <a:tcPr/>
                </a:tc>
                <a:tc>
                  <a:txBody>
                    <a:bodyPr/>
                    <a:lstStyle/>
                    <a:p>
                      <a:r>
                        <a:rPr lang="en-IN" dirty="0">
                          <a:latin typeface="Times New Roman" panose="02020603050405020304" pitchFamily="18" charset="0"/>
                          <a:cs typeface="Times New Roman" panose="02020603050405020304" pitchFamily="18" charset="0"/>
                        </a:rPr>
                        <a:t>Assumes feature independence</a:t>
                      </a:r>
                    </a:p>
                  </a:txBody>
                  <a:tcPr/>
                </a:tc>
                <a:extLst>
                  <a:ext uri="{0D108BD9-81ED-4DB2-BD59-A6C34878D82A}">
                    <a16:rowId xmlns:a16="http://schemas.microsoft.com/office/drawing/2014/main" val="4248983199"/>
                  </a:ext>
                </a:extLst>
              </a:tr>
            </a:tbl>
          </a:graphicData>
        </a:graphic>
      </p:graphicFrame>
    </p:spTree>
    <p:extLst>
      <p:ext uri="{BB962C8B-B14F-4D97-AF65-F5344CB8AC3E}">
        <p14:creationId xmlns:p14="http://schemas.microsoft.com/office/powerpoint/2010/main" val="3584288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CB024CC5-00AF-876C-F7CA-146754384CB0}"/>
              </a:ext>
            </a:extLst>
          </p:cNvPr>
          <p:cNvSpPr>
            <a:spLocks noGrp="1"/>
          </p:cNvSpPr>
          <p:nvPr>
            <p:ph idx="1"/>
          </p:nvPr>
        </p:nvSpPr>
        <p:spPr/>
        <p:txBody>
          <a:bodyPr/>
          <a:lstStyle/>
          <a:p>
            <a:pPr marL="0" indent="0" algn="ctr">
              <a:buNone/>
            </a:pPr>
            <a:endParaRPr lang="en-US" dirty="0"/>
          </a:p>
          <a:p>
            <a:pPr marL="0" indent="0" algn="ctr">
              <a:buNone/>
            </a:pPr>
            <a:endParaRPr lang="en-US" dirty="0"/>
          </a:p>
          <a:p>
            <a:pPr marL="0" indent="0" algn="ctr">
              <a:buNone/>
            </a:pPr>
            <a:r>
              <a:rPr lang="en-US" dirty="0">
                <a:latin typeface="Times New Roman" panose="02020603050405020304" pitchFamily="18" charset="0"/>
                <a:cs typeface="Times New Roman" panose="02020603050405020304" pitchFamily="18" charset="0"/>
              </a:rPr>
              <a:t>“How can machine learning be used to detect anomalies in IoT network data and evaluate the performance of different models efficiently through a user-friendly system?”</a:t>
            </a:r>
          </a:p>
        </p:txBody>
      </p:sp>
    </p:spTree>
    <p:extLst>
      <p:ext uri="{BB962C8B-B14F-4D97-AF65-F5344CB8AC3E}">
        <p14:creationId xmlns:p14="http://schemas.microsoft.com/office/powerpoint/2010/main" val="2374707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p:txBody>
          <a:bodyPr/>
          <a:lstStyle/>
          <a:p>
            <a:r>
              <a:rPr lang="en-IN" dirty="0">
                <a:latin typeface="Times New Roman" panose="02020603050405020304" pitchFamily="18" charset="0"/>
                <a:cs typeface="Times New Roman" panose="02020603050405020304" pitchFamily="18" charset="0"/>
              </a:rPr>
              <a:t>Pre-process IoT datasets.</a:t>
            </a:r>
          </a:p>
          <a:p>
            <a:r>
              <a:rPr lang="en-IN" dirty="0">
                <a:latin typeface="Times New Roman" panose="02020603050405020304" pitchFamily="18" charset="0"/>
                <a:cs typeface="Times New Roman" panose="02020603050405020304" pitchFamily="18" charset="0"/>
              </a:rPr>
              <a:t>Implement multiple ML models.</a:t>
            </a:r>
          </a:p>
          <a:p>
            <a:r>
              <a:rPr lang="en-IN" dirty="0">
                <a:latin typeface="Times New Roman" panose="02020603050405020304" pitchFamily="18" charset="0"/>
                <a:cs typeface="Times New Roman" panose="02020603050405020304" pitchFamily="18" charset="0"/>
              </a:rPr>
              <a:t>Develop a web-based system</a:t>
            </a:r>
          </a:p>
          <a:p>
            <a:r>
              <a:rPr lang="en-IN" dirty="0">
                <a:latin typeface="Times New Roman" panose="02020603050405020304" pitchFamily="18" charset="0"/>
                <a:cs typeface="Times New Roman" panose="02020603050405020304" pitchFamily="18" charset="0"/>
              </a:rPr>
              <a:t>Allow dataset upload and model selection</a:t>
            </a:r>
          </a:p>
          <a:p>
            <a:r>
              <a:rPr lang="en-IN" dirty="0">
                <a:latin typeface="Times New Roman" panose="02020603050405020304" pitchFamily="18" charset="0"/>
                <a:cs typeface="Times New Roman" panose="02020603050405020304" pitchFamily="18" charset="0"/>
              </a:rPr>
              <a:t>Analyse model performance</a:t>
            </a:r>
          </a:p>
          <a:p>
            <a:r>
              <a:rPr lang="en-IN" dirty="0">
                <a:latin typeface="Times New Roman" panose="02020603050405020304" pitchFamily="18" charset="0"/>
                <a:cs typeface="Times New Roman" panose="02020603050405020304" pitchFamily="18" charset="0"/>
              </a:rPr>
              <a:t>Identify misclassified instances</a:t>
            </a:r>
          </a:p>
        </p:txBody>
      </p:sp>
    </p:spTree>
    <p:extLst>
      <p:ext uri="{BB962C8B-B14F-4D97-AF65-F5344CB8AC3E}">
        <p14:creationId xmlns:p14="http://schemas.microsoft.com/office/powerpoint/2010/main" val="35470978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59742-A515-0F41-1E7D-E5B21444CE7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Methodology (Flowchart)</a:t>
            </a:r>
            <a:endParaRPr lang="en-IN" dirty="0"/>
          </a:p>
        </p:txBody>
      </p:sp>
      <p:graphicFrame>
        <p:nvGraphicFramePr>
          <p:cNvPr id="5" name="Content Placeholder 4">
            <a:extLst>
              <a:ext uri="{FF2B5EF4-FFF2-40B4-BE49-F238E27FC236}">
                <a16:creationId xmlns:a16="http://schemas.microsoft.com/office/drawing/2014/main" id="{3FD7D740-34F7-EB6E-40D2-B5A023493314}"/>
              </a:ext>
            </a:extLst>
          </p:cNvPr>
          <p:cNvGraphicFramePr>
            <a:graphicFrameLocks noGrp="1"/>
          </p:cNvGraphicFramePr>
          <p:nvPr>
            <p:ph idx="1"/>
            <p:extLst>
              <p:ext uri="{D42A27DB-BD31-4B8C-83A1-F6EECF244321}">
                <p14:modId xmlns:p14="http://schemas.microsoft.com/office/powerpoint/2010/main" val="9151438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39688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1. Data </a:t>
            </a:r>
          </a:p>
          <a:p>
            <a:r>
              <a:rPr lang="en-US" dirty="0">
                <a:latin typeface="Times New Roman" panose="02020603050405020304" pitchFamily="18" charset="0"/>
                <a:cs typeface="Times New Roman" panose="02020603050405020304" pitchFamily="18" charset="0"/>
              </a:rPr>
              <a:t>RT_IoT2022 Dataset</a:t>
            </a:r>
          </a:p>
          <a:p>
            <a:r>
              <a:rPr lang="en-US" dirty="0">
                <a:latin typeface="Times New Roman" panose="02020603050405020304" pitchFamily="18" charset="0"/>
                <a:cs typeface="Times New Roman" panose="02020603050405020304" pitchFamily="18" charset="0"/>
              </a:rPr>
              <a:t>123,117 network traffic records</a:t>
            </a:r>
          </a:p>
          <a:p>
            <a:r>
              <a:rPr lang="en-US" dirty="0">
                <a:latin typeface="Times New Roman" panose="02020603050405020304" pitchFamily="18" charset="0"/>
                <a:cs typeface="Times New Roman" panose="02020603050405020304" pitchFamily="18" charset="0"/>
              </a:rPr>
              <a:t>85 features</a:t>
            </a:r>
          </a:p>
          <a:p>
            <a:r>
              <a:rPr lang="en-US" dirty="0">
                <a:latin typeface="Times New Roman" panose="02020603050405020304" pitchFamily="18" charset="0"/>
                <a:cs typeface="Times New Roman" panose="02020603050405020304" pitchFamily="18" charset="0"/>
              </a:rPr>
              <a:t>Multi-class attack categories</a:t>
            </a:r>
          </a:p>
          <a:p>
            <a:pPr marL="0" indent="0">
              <a:buNone/>
            </a:pPr>
            <a:endParaRPr lang="en-IN" dirty="0"/>
          </a:p>
        </p:txBody>
      </p:sp>
    </p:spTree>
    <p:extLst>
      <p:ext uri="{BB962C8B-B14F-4D97-AF65-F5344CB8AC3E}">
        <p14:creationId xmlns:p14="http://schemas.microsoft.com/office/powerpoint/2010/main" val="1077724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C1AA8-5EE2-2201-1F4D-704DE754BA4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1CE55C98-7630-9B49-0F1A-2D62BFC5B56F}"/>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2. Data Preprocessing</a:t>
            </a:r>
          </a:p>
          <a:p>
            <a:r>
              <a:rPr lang="en-US" dirty="0">
                <a:latin typeface="Times New Roman" panose="02020603050405020304" pitchFamily="18" charset="0"/>
                <a:cs typeface="Times New Roman" panose="02020603050405020304" pitchFamily="18" charset="0"/>
              </a:rPr>
              <a:t>Removal of missing values</a:t>
            </a:r>
          </a:p>
          <a:p>
            <a:r>
              <a:rPr lang="en-US" dirty="0">
                <a:latin typeface="Times New Roman" panose="02020603050405020304" pitchFamily="18" charset="0"/>
                <a:cs typeface="Times New Roman" panose="02020603050405020304" pitchFamily="18" charset="0"/>
              </a:rPr>
              <a:t>Label encoding of categorical features</a:t>
            </a:r>
          </a:p>
          <a:p>
            <a:r>
              <a:rPr lang="en-US" dirty="0">
                <a:latin typeface="Times New Roman" panose="02020603050405020304" pitchFamily="18" charset="0"/>
                <a:cs typeface="Times New Roman" panose="02020603050405020304" pitchFamily="18" charset="0"/>
              </a:rPr>
              <a:t>Feature scaling using </a:t>
            </a:r>
            <a:r>
              <a:rPr lang="en-US" dirty="0" err="1">
                <a:latin typeface="Times New Roman" panose="02020603050405020304" pitchFamily="18" charset="0"/>
                <a:cs typeface="Times New Roman" panose="02020603050405020304" pitchFamily="18" charset="0"/>
              </a:rPr>
              <a:t>StandardScaler</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Train-test split (70%-30%)</a:t>
            </a:r>
          </a:p>
          <a:p>
            <a:pPr marL="0" indent="0">
              <a:buNone/>
            </a:pPr>
            <a:endParaRPr lang="en-IN" dirty="0"/>
          </a:p>
        </p:txBody>
      </p:sp>
    </p:spTree>
    <p:extLst>
      <p:ext uri="{BB962C8B-B14F-4D97-AF65-F5344CB8AC3E}">
        <p14:creationId xmlns:p14="http://schemas.microsoft.com/office/powerpoint/2010/main" val="1021870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5B5CF-D812-3EC4-2A9A-4EBEC2E5AF1E}"/>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06AE0D52-6201-0B9A-2501-F32B387E807A}"/>
              </a:ext>
            </a:extLst>
          </p:cNvPr>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3. Machine Learning Models Used (for Training and Testing)</a:t>
            </a:r>
          </a:p>
          <a:p>
            <a:r>
              <a:rPr lang="en-US" dirty="0">
                <a:latin typeface="Times New Roman" panose="02020603050405020304" pitchFamily="18" charset="0"/>
                <a:cs typeface="Times New Roman" panose="02020603050405020304" pitchFamily="18" charset="0"/>
              </a:rPr>
              <a:t>Random Forest</a:t>
            </a:r>
          </a:p>
          <a:p>
            <a:r>
              <a:rPr lang="en-US" dirty="0">
                <a:latin typeface="Times New Roman" panose="02020603050405020304" pitchFamily="18" charset="0"/>
                <a:cs typeface="Times New Roman" panose="02020603050405020304" pitchFamily="18" charset="0"/>
              </a:rPr>
              <a:t>Support Vector Machine</a:t>
            </a:r>
          </a:p>
          <a:p>
            <a:r>
              <a:rPr lang="en-US" dirty="0">
                <a:latin typeface="Times New Roman" panose="02020603050405020304" pitchFamily="18" charset="0"/>
                <a:cs typeface="Times New Roman" panose="02020603050405020304" pitchFamily="18" charset="0"/>
              </a:rPr>
              <a:t>K-Nearest Neighbors</a:t>
            </a:r>
          </a:p>
          <a:p>
            <a:r>
              <a:rPr lang="en-US" dirty="0">
                <a:latin typeface="Times New Roman" panose="02020603050405020304" pitchFamily="18" charset="0"/>
                <a:cs typeface="Times New Roman" panose="02020603050405020304" pitchFamily="18" charset="0"/>
              </a:rPr>
              <a:t>Logistic Regression</a:t>
            </a:r>
          </a:p>
          <a:p>
            <a:r>
              <a:rPr lang="en-US" dirty="0">
                <a:latin typeface="Times New Roman" panose="02020603050405020304" pitchFamily="18" charset="0"/>
                <a:cs typeface="Times New Roman" panose="02020603050405020304" pitchFamily="18" charset="0"/>
              </a:rPr>
              <a:t>Decision Tree</a:t>
            </a:r>
          </a:p>
          <a:p>
            <a:r>
              <a:rPr lang="en-US" dirty="0">
                <a:latin typeface="Times New Roman" panose="02020603050405020304" pitchFamily="18" charset="0"/>
                <a:cs typeface="Times New Roman" panose="02020603050405020304" pitchFamily="18" charset="0"/>
              </a:rPr>
              <a:t>Naive Bayes</a:t>
            </a:r>
          </a:p>
          <a:p>
            <a:pPr marL="0" indent="0">
              <a:buNone/>
            </a:pPr>
            <a:endParaRPr lang="en-IN" dirty="0"/>
          </a:p>
        </p:txBody>
      </p:sp>
    </p:spTree>
    <p:extLst>
      <p:ext uri="{BB962C8B-B14F-4D97-AF65-F5344CB8AC3E}">
        <p14:creationId xmlns:p14="http://schemas.microsoft.com/office/powerpoint/2010/main" val="2423303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A8699-25C3-AFF8-4B8F-8F0C72D22FC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Proposed Methodology</a:t>
            </a:r>
          </a:p>
        </p:txBody>
      </p:sp>
      <p:sp>
        <p:nvSpPr>
          <p:cNvPr id="3" name="Content Placeholder 2">
            <a:extLst>
              <a:ext uri="{FF2B5EF4-FFF2-40B4-BE49-F238E27FC236}">
                <a16:creationId xmlns:a16="http://schemas.microsoft.com/office/drawing/2014/main" id="{A5D0A3B7-4B1C-458D-48D7-EDC26C7721EA}"/>
              </a:ext>
            </a:extLst>
          </p:cNvPr>
          <p:cNvSpPr>
            <a:spLocks noGrp="1"/>
          </p:cNvSpPr>
          <p:nvPr>
            <p:ph idx="1"/>
          </p:nvPr>
        </p:nvSpPr>
        <p:spPr/>
        <p:txBody>
          <a:bodyPr/>
          <a:lstStyle/>
          <a:p>
            <a:pPr marL="0" indent="0">
              <a:buNone/>
            </a:pPr>
            <a:r>
              <a:rPr lang="en-IN" b="1" dirty="0">
                <a:latin typeface="Times New Roman" panose="02020603050405020304" pitchFamily="18" charset="0"/>
                <a:cs typeface="Times New Roman" panose="02020603050405020304" pitchFamily="18" charset="0"/>
              </a:rPr>
              <a:t>4. Evaluation Metrics</a:t>
            </a:r>
          </a:p>
          <a:p>
            <a:r>
              <a:rPr lang="en-IN" dirty="0">
                <a:latin typeface="Times New Roman" panose="02020603050405020304" pitchFamily="18" charset="0"/>
                <a:cs typeface="Times New Roman" panose="02020603050405020304" pitchFamily="18" charset="0"/>
              </a:rPr>
              <a:t>Accuracy</a:t>
            </a:r>
          </a:p>
          <a:p>
            <a:r>
              <a:rPr lang="en-IN" dirty="0">
                <a:latin typeface="Times New Roman" panose="02020603050405020304" pitchFamily="18" charset="0"/>
                <a:cs typeface="Times New Roman" panose="02020603050405020304" pitchFamily="18" charset="0"/>
              </a:rPr>
              <a:t>Precision</a:t>
            </a:r>
          </a:p>
          <a:p>
            <a:r>
              <a:rPr lang="en-IN" dirty="0">
                <a:latin typeface="Times New Roman" panose="02020603050405020304" pitchFamily="18" charset="0"/>
                <a:cs typeface="Times New Roman" panose="02020603050405020304" pitchFamily="18" charset="0"/>
              </a:rPr>
              <a:t>Recall</a:t>
            </a:r>
          </a:p>
          <a:p>
            <a:r>
              <a:rPr lang="en-IN" dirty="0">
                <a:latin typeface="Times New Roman" panose="02020603050405020304" pitchFamily="18" charset="0"/>
                <a:cs typeface="Times New Roman" panose="02020603050405020304" pitchFamily="18" charset="0"/>
              </a:rPr>
              <a:t>F1-Score (2*[precision*recall]/[precision + recall])</a:t>
            </a:r>
          </a:p>
          <a:p>
            <a:r>
              <a:rPr lang="en-IN" dirty="0">
                <a:latin typeface="Times New Roman" panose="02020603050405020304" pitchFamily="18" charset="0"/>
                <a:cs typeface="Times New Roman" panose="02020603050405020304" pitchFamily="18" charset="0"/>
              </a:rPr>
              <a:t>Confusion Matrix</a:t>
            </a:r>
          </a:p>
          <a:p>
            <a:endParaRPr lang="en-IN" dirty="0"/>
          </a:p>
        </p:txBody>
      </p:sp>
    </p:spTree>
    <p:extLst>
      <p:ext uri="{BB962C8B-B14F-4D97-AF65-F5344CB8AC3E}">
        <p14:creationId xmlns:p14="http://schemas.microsoft.com/office/powerpoint/2010/main" val="4202556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 </a:t>
            </a:r>
          </a:p>
        </p:txBody>
      </p:sp>
      <p:sp>
        <p:nvSpPr>
          <p:cNvPr id="6" name="Content Placeholder 5">
            <a:extLst>
              <a:ext uri="{FF2B5EF4-FFF2-40B4-BE49-F238E27FC236}">
                <a16:creationId xmlns:a16="http://schemas.microsoft.com/office/drawing/2014/main" id="{EB2789D3-341D-7AD5-B583-8F9DB373EE11}"/>
              </a:ext>
            </a:extLst>
          </p:cNvPr>
          <p:cNvSpPr>
            <a:spLocks noGrp="1"/>
          </p:cNvSpPr>
          <p:nvPr>
            <p:ph idx="1"/>
          </p:nvPr>
        </p:nvSpPr>
        <p:spPr/>
        <p:txBody>
          <a:bodyPr/>
          <a:lstStyle/>
          <a:p>
            <a:endParaRPr lang="en-IN" dirty="0"/>
          </a:p>
        </p:txBody>
      </p:sp>
      <p:pic>
        <p:nvPicPr>
          <p:cNvPr id="9" name="Picture 8">
            <a:extLst>
              <a:ext uri="{FF2B5EF4-FFF2-40B4-BE49-F238E27FC236}">
                <a16:creationId xmlns:a16="http://schemas.microsoft.com/office/drawing/2014/main" id="{1C708ED2-AF14-A4C5-6FC7-F002F9A8DC72}"/>
              </a:ext>
            </a:extLst>
          </p:cNvPr>
          <p:cNvPicPr>
            <a:picLocks noChangeAspect="1"/>
          </p:cNvPicPr>
          <p:nvPr/>
        </p:nvPicPr>
        <p:blipFill>
          <a:blip r:embed="rId2"/>
          <a:stretch>
            <a:fillRect/>
          </a:stretch>
        </p:blipFill>
        <p:spPr>
          <a:xfrm>
            <a:off x="838200" y="1514167"/>
            <a:ext cx="4079667" cy="2677759"/>
          </a:xfrm>
          <a:prstGeom prst="rect">
            <a:avLst/>
          </a:prstGeom>
        </p:spPr>
      </p:pic>
      <p:pic>
        <p:nvPicPr>
          <p:cNvPr id="11" name="Picture 10">
            <a:extLst>
              <a:ext uri="{FF2B5EF4-FFF2-40B4-BE49-F238E27FC236}">
                <a16:creationId xmlns:a16="http://schemas.microsoft.com/office/drawing/2014/main" id="{32A8E0A0-845A-1795-785D-284320F3639C}"/>
              </a:ext>
            </a:extLst>
          </p:cNvPr>
          <p:cNvPicPr>
            <a:picLocks noChangeAspect="1"/>
          </p:cNvPicPr>
          <p:nvPr/>
        </p:nvPicPr>
        <p:blipFill>
          <a:blip r:embed="rId3"/>
          <a:stretch>
            <a:fillRect/>
          </a:stretch>
        </p:blipFill>
        <p:spPr>
          <a:xfrm>
            <a:off x="7274135" y="223902"/>
            <a:ext cx="4448523" cy="2580529"/>
          </a:xfrm>
          <a:prstGeom prst="rect">
            <a:avLst/>
          </a:prstGeom>
        </p:spPr>
      </p:pic>
      <p:pic>
        <p:nvPicPr>
          <p:cNvPr id="13" name="Picture 12">
            <a:extLst>
              <a:ext uri="{FF2B5EF4-FFF2-40B4-BE49-F238E27FC236}">
                <a16:creationId xmlns:a16="http://schemas.microsoft.com/office/drawing/2014/main" id="{A4B81988-1DAB-A33D-3D75-A88BC31AB7C8}"/>
              </a:ext>
            </a:extLst>
          </p:cNvPr>
          <p:cNvPicPr>
            <a:picLocks noChangeAspect="1"/>
          </p:cNvPicPr>
          <p:nvPr/>
        </p:nvPicPr>
        <p:blipFill>
          <a:blip r:embed="rId4"/>
          <a:stretch>
            <a:fillRect/>
          </a:stretch>
        </p:blipFill>
        <p:spPr>
          <a:xfrm>
            <a:off x="5271865" y="3057832"/>
            <a:ext cx="4511828" cy="3800168"/>
          </a:xfrm>
          <a:prstGeom prst="rect">
            <a:avLst/>
          </a:prstGeom>
        </p:spPr>
      </p:pic>
    </p:spTree>
    <p:extLst>
      <p:ext uri="{BB962C8B-B14F-4D97-AF65-F5344CB8AC3E}">
        <p14:creationId xmlns:p14="http://schemas.microsoft.com/office/powerpoint/2010/main" val="3645671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BEDFC-5FF8-C275-F620-CA26584ACC2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Result</a:t>
            </a:r>
          </a:p>
        </p:txBody>
      </p:sp>
      <p:pic>
        <p:nvPicPr>
          <p:cNvPr id="9" name="Picture 8">
            <a:extLst>
              <a:ext uri="{FF2B5EF4-FFF2-40B4-BE49-F238E27FC236}">
                <a16:creationId xmlns:a16="http://schemas.microsoft.com/office/drawing/2014/main" id="{04C70438-94AD-772F-3E9A-F664E91B4D31}"/>
              </a:ext>
            </a:extLst>
          </p:cNvPr>
          <p:cNvPicPr>
            <a:picLocks noChangeAspect="1"/>
          </p:cNvPicPr>
          <p:nvPr/>
        </p:nvPicPr>
        <p:blipFill>
          <a:blip r:embed="rId2"/>
          <a:stretch>
            <a:fillRect/>
          </a:stretch>
        </p:blipFill>
        <p:spPr>
          <a:xfrm>
            <a:off x="100780" y="127786"/>
            <a:ext cx="5335272" cy="3301214"/>
          </a:xfrm>
          <a:prstGeom prst="rect">
            <a:avLst/>
          </a:prstGeom>
        </p:spPr>
      </p:pic>
      <p:pic>
        <p:nvPicPr>
          <p:cNvPr id="11" name="Picture 10">
            <a:extLst>
              <a:ext uri="{FF2B5EF4-FFF2-40B4-BE49-F238E27FC236}">
                <a16:creationId xmlns:a16="http://schemas.microsoft.com/office/drawing/2014/main" id="{31D454E5-A221-95C5-73F2-4DA8ED3F772E}"/>
              </a:ext>
            </a:extLst>
          </p:cNvPr>
          <p:cNvPicPr>
            <a:picLocks noChangeAspect="1"/>
          </p:cNvPicPr>
          <p:nvPr/>
        </p:nvPicPr>
        <p:blipFill>
          <a:blip r:embed="rId3"/>
          <a:stretch>
            <a:fillRect/>
          </a:stretch>
        </p:blipFill>
        <p:spPr>
          <a:xfrm>
            <a:off x="7097969" y="3696093"/>
            <a:ext cx="4760595" cy="2991257"/>
          </a:xfrm>
          <a:prstGeom prst="rect">
            <a:avLst/>
          </a:prstGeom>
        </p:spPr>
      </p:pic>
      <p:pic>
        <p:nvPicPr>
          <p:cNvPr id="13" name="Picture 12">
            <a:extLst>
              <a:ext uri="{FF2B5EF4-FFF2-40B4-BE49-F238E27FC236}">
                <a16:creationId xmlns:a16="http://schemas.microsoft.com/office/drawing/2014/main" id="{A291BB77-E6CC-3D69-834D-A789781D8457}"/>
              </a:ext>
            </a:extLst>
          </p:cNvPr>
          <p:cNvPicPr>
            <a:picLocks noChangeAspect="1"/>
          </p:cNvPicPr>
          <p:nvPr/>
        </p:nvPicPr>
        <p:blipFill>
          <a:blip r:embed="rId4"/>
          <a:stretch>
            <a:fillRect/>
          </a:stretch>
        </p:blipFill>
        <p:spPr>
          <a:xfrm>
            <a:off x="6397514" y="111112"/>
            <a:ext cx="5461050" cy="2991257"/>
          </a:xfrm>
          <a:prstGeom prst="rect">
            <a:avLst/>
          </a:prstGeom>
        </p:spPr>
      </p:pic>
      <p:pic>
        <p:nvPicPr>
          <p:cNvPr id="15" name="Picture 14">
            <a:extLst>
              <a:ext uri="{FF2B5EF4-FFF2-40B4-BE49-F238E27FC236}">
                <a16:creationId xmlns:a16="http://schemas.microsoft.com/office/drawing/2014/main" id="{F723BF3C-5BDB-E570-33E8-AF1DFF35F49C}"/>
              </a:ext>
            </a:extLst>
          </p:cNvPr>
          <p:cNvPicPr>
            <a:picLocks noChangeAspect="1"/>
          </p:cNvPicPr>
          <p:nvPr/>
        </p:nvPicPr>
        <p:blipFill>
          <a:blip r:embed="rId5"/>
          <a:stretch>
            <a:fillRect/>
          </a:stretch>
        </p:blipFill>
        <p:spPr>
          <a:xfrm>
            <a:off x="179577" y="3614483"/>
            <a:ext cx="5680450" cy="3154476"/>
          </a:xfrm>
          <a:prstGeom prst="rect">
            <a:avLst/>
          </a:prstGeom>
        </p:spPr>
      </p:pic>
    </p:spTree>
    <p:extLst>
      <p:ext uri="{BB962C8B-B14F-4D97-AF65-F5344CB8AC3E}">
        <p14:creationId xmlns:p14="http://schemas.microsoft.com/office/powerpoint/2010/main" val="3310950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Outcomes</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Developed a functional Anomaly Detection System</a:t>
            </a:r>
          </a:p>
          <a:p>
            <a:r>
              <a:rPr lang="en-US" dirty="0">
                <a:latin typeface="Times New Roman" panose="02020603050405020304" pitchFamily="18" charset="0"/>
                <a:cs typeface="Times New Roman" panose="02020603050405020304" pitchFamily="18" charset="0"/>
              </a:rPr>
              <a:t>Integrated Machine Learning with Web Interface</a:t>
            </a:r>
          </a:p>
          <a:p>
            <a:r>
              <a:rPr lang="en-US" dirty="0">
                <a:latin typeface="Times New Roman" panose="02020603050405020304" pitchFamily="18" charset="0"/>
                <a:cs typeface="Times New Roman" panose="02020603050405020304" pitchFamily="18" charset="0"/>
              </a:rPr>
              <a:t>Enabled Real Time Dataset Analysis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4956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CBF43-AF88-B4A6-66AE-7B5CC984A78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Work</a:t>
            </a:r>
          </a:p>
        </p:txBody>
      </p:sp>
      <p:sp>
        <p:nvSpPr>
          <p:cNvPr id="3" name="Content Placeholder 2">
            <a:extLst>
              <a:ext uri="{FF2B5EF4-FFF2-40B4-BE49-F238E27FC236}">
                <a16:creationId xmlns:a16="http://schemas.microsoft.com/office/drawing/2014/main" id="{AED999A9-728C-07D3-B8F0-DF74624B239B}"/>
              </a:ext>
            </a:extLst>
          </p:cNvPr>
          <p:cNvSpPr>
            <a:spLocks noGrp="1"/>
          </p:cNvSpPr>
          <p:nvPr>
            <p:ph idx="1"/>
          </p:nvPr>
        </p:nvSpPr>
        <p:spPr/>
        <p:txBody>
          <a:bodyPr/>
          <a:lstStyle/>
          <a:p>
            <a:r>
              <a:rPr lang="en-IN" dirty="0"/>
              <a:t>Add Multi Dataset support</a:t>
            </a:r>
          </a:p>
          <a:p>
            <a:r>
              <a:rPr lang="en-IN" dirty="0"/>
              <a:t>Integrate Feature Importance Analysis</a:t>
            </a:r>
          </a:p>
        </p:txBody>
      </p:sp>
    </p:spTree>
    <p:extLst>
      <p:ext uri="{BB962C8B-B14F-4D97-AF65-F5344CB8AC3E}">
        <p14:creationId xmlns:p14="http://schemas.microsoft.com/office/powerpoint/2010/main" val="1591393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References</a:t>
            </a:r>
          </a:p>
        </p:txBody>
      </p:sp>
      <p:sp>
        <p:nvSpPr>
          <p:cNvPr id="4" name="Rectangle 1">
            <a:extLst>
              <a:ext uri="{FF2B5EF4-FFF2-40B4-BE49-F238E27FC236}">
                <a16:creationId xmlns:a16="http://schemas.microsoft.com/office/drawing/2014/main" id="{6AF71E8F-D5DC-9E47-8444-497758920085}"/>
              </a:ext>
            </a:extLst>
          </p:cNvPr>
          <p:cNvSpPr>
            <a:spLocks noGrp="1" noChangeArrowheads="1"/>
          </p:cNvSpPr>
          <p:nvPr>
            <p:ph idx="1"/>
          </p:nvPr>
        </p:nvSpPr>
        <p:spPr bwMode="auto">
          <a:xfrm>
            <a:off x="838200" y="2529106"/>
            <a:ext cx="415498" cy="892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DB26C364-5761-D3A8-8C71-F41766E2B8D4}"/>
              </a:ext>
            </a:extLst>
          </p:cNvPr>
          <p:cNvSpPr>
            <a:spLocks noChangeArrowheads="1"/>
          </p:cNvSpPr>
          <p:nvPr/>
        </p:nvSpPr>
        <p:spPr bwMode="auto">
          <a:xfrm>
            <a:off x="446049" y="2375218"/>
            <a:ext cx="11696151"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Moustafa, N., &amp; Slay, J. (2022). </a:t>
            </a:r>
            <a:r>
              <a:rPr lang="en-US" altLang="en-US" sz="2400" i="1" dirty="0">
                <a:latin typeface="Times New Roman" panose="02020603050405020304" pitchFamily="18" charset="0"/>
                <a:cs typeface="Times New Roman" panose="02020603050405020304" pitchFamily="18" charset="0"/>
              </a:rPr>
              <a:t>RT_IoT2022: A Real-Time IoT Network Intrusion </a:t>
            </a:r>
          </a:p>
          <a:p>
            <a:pPr lvl="0" eaLnBrk="0" fontAlgn="base" hangingPunct="0">
              <a:spcBef>
                <a:spcPct val="0"/>
              </a:spcBef>
              <a:spcAft>
                <a:spcPct val="0"/>
              </a:spcAft>
            </a:pPr>
            <a:r>
              <a:rPr lang="en-US" altLang="en-US" sz="2400" i="1" dirty="0">
                <a:latin typeface="Times New Roman" panose="02020603050405020304" pitchFamily="18" charset="0"/>
                <a:cs typeface="Times New Roman" panose="02020603050405020304" pitchFamily="18" charset="0"/>
              </a:rPr>
              <a:t>     Detection Dataset.</a:t>
            </a:r>
            <a:endParaRPr lang="en-US" altLang="en-US" sz="24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Ahmed, M., Mahmood, A. N., &amp; Hu, J. (2016). “A Survey of Network Anomaly Detection </a:t>
            </a:r>
          </a:p>
          <a:p>
            <a:pPr lvl="0" eaLnBrk="0" fontAlgn="base" hangingPunct="0">
              <a:spcBef>
                <a:spcPct val="0"/>
              </a:spcBef>
              <a:spcAft>
                <a:spcPct val="0"/>
              </a:spcAft>
            </a:pPr>
            <a:r>
              <a:rPr lang="en-US" altLang="en-US" sz="2400" dirty="0">
                <a:latin typeface="Times New Roman" panose="02020603050405020304" pitchFamily="18" charset="0"/>
                <a:cs typeface="Times New Roman" panose="02020603050405020304" pitchFamily="18" charset="0"/>
              </a:rPr>
              <a:t>     Techniques.” </a:t>
            </a:r>
            <a:r>
              <a:rPr lang="en-US" altLang="en-US" sz="2400" i="1" dirty="0">
                <a:latin typeface="Times New Roman" panose="02020603050405020304" pitchFamily="18" charset="0"/>
                <a:cs typeface="Times New Roman" panose="02020603050405020304" pitchFamily="18" charset="0"/>
              </a:rPr>
              <a:t>Journal of Network and Computer Applications.</a:t>
            </a:r>
            <a:endParaRPr lang="en-US" altLang="en-US" sz="2400" dirty="0">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Scikit-learn Documentation.</a:t>
            </a:r>
          </a:p>
          <a:p>
            <a:pPr marL="285750" lvl="0" indent="-285750" eaLnBrk="0" fontAlgn="base" hangingPunct="0">
              <a:spcBef>
                <a:spcPct val="0"/>
              </a:spcBef>
              <a:spcAft>
                <a:spcPct val="0"/>
              </a:spcAft>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IEEE Xplore Digital Library – Research articles on IoT intrusion detection systems.</a:t>
            </a:r>
          </a:p>
          <a:p>
            <a:pPr marL="285750" lvl="0" indent="-285750" eaLnBrk="0" fontAlgn="base" hangingPunct="0">
              <a:spcBef>
                <a:spcPct val="0"/>
              </a:spcBef>
              <a:spcAft>
                <a:spcPct val="0"/>
              </a:spcAft>
              <a:buFont typeface="Arial" panose="020B0604020202020204" pitchFamily="34" charset="0"/>
              <a:buChar char="•"/>
            </a:pPr>
            <a:r>
              <a:rPr lang="en-IN" sz="2400" dirty="0" err="1">
                <a:latin typeface="Times New Roman" panose="02020603050405020304" pitchFamily="18" charset="0"/>
                <a:cs typeface="Times New Roman" panose="02020603050405020304" pitchFamily="18" charset="0"/>
              </a:rPr>
              <a:t>Streamlit</a:t>
            </a:r>
            <a:r>
              <a:rPr lang="en-IN" sz="2400" dirty="0">
                <a:latin typeface="Times New Roman" panose="02020603050405020304" pitchFamily="18" charset="0"/>
                <a:cs typeface="Times New Roman" panose="02020603050405020304" pitchFamily="18" charset="0"/>
              </a:rPr>
              <a:t> Documentation</a:t>
            </a:r>
            <a:endParaRPr lang="en-US" altLang="en-US" sz="24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24917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838200" y="2618467"/>
            <a:ext cx="5257800" cy="1325563"/>
          </a:xfrm>
        </p:spPr>
        <p:txBody>
          <a:bodyPr/>
          <a:lstStyle/>
          <a:p>
            <a:r>
              <a:rPr lang="en-IN"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3747106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943</TotalTime>
  <Words>631</Words>
  <Application>Microsoft Office PowerPoint</Application>
  <PresentationFormat>Widescreen</PresentationFormat>
  <Paragraphs>134</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Aptos Display</vt:lpstr>
      <vt:lpstr>Arial</vt:lpstr>
      <vt:lpstr>Calibri</vt:lpstr>
      <vt:lpstr>Times New Roman</vt:lpstr>
      <vt:lpstr>Wingdings</vt:lpstr>
      <vt:lpstr>Office Theme</vt:lpstr>
      <vt:lpstr>Anomaly Detection in IoT Network using Machine Learning</vt:lpstr>
      <vt:lpstr>Outline</vt:lpstr>
      <vt:lpstr>Introduction</vt:lpstr>
      <vt:lpstr>Introduction</vt:lpstr>
      <vt:lpstr>Literature Review (Traditional Approaches) </vt:lpstr>
      <vt:lpstr>Literature Review (Machine Learning Approaches)</vt:lpstr>
      <vt:lpstr>Problem Statement</vt:lpstr>
      <vt:lpstr>Objectives</vt:lpstr>
      <vt:lpstr>Proposed Methodology (Flowchart)</vt:lpstr>
      <vt:lpstr>Proposed Methodology</vt:lpstr>
      <vt:lpstr>Proposed Methodology</vt:lpstr>
      <vt:lpstr>Proposed Methodology</vt:lpstr>
      <vt:lpstr>Proposed Methodology</vt:lpstr>
      <vt:lpstr>Result </vt:lpstr>
      <vt:lpstr>Result</vt:lpstr>
      <vt:lpstr>Outcomes</vt:lpstr>
      <vt:lpstr>Future Work</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Kushagra Singh</cp:lastModifiedBy>
  <cp:revision>8</cp:revision>
  <dcterms:created xsi:type="dcterms:W3CDTF">2025-09-29T05:03:41Z</dcterms:created>
  <dcterms:modified xsi:type="dcterms:W3CDTF">2026-04-10T13:23:42Z</dcterms:modified>
</cp:coreProperties>
</file>